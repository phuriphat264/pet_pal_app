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83e4a729f4773" /><Relationship Type="http://schemas.openxmlformats.org/officeDocument/2006/relationships/extended-properties" Target="/docProps/app.xml" Id="R3c3c4594c8244237" /><Relationship Type="http://schemas.openxmlformats.org/officeDocument/2006/relationships/officeDocument" Target="/ppt/presentation.xml" Id="Re76e7ebd296f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f4a13573d45e8"/>
  </p:sldMasterIdLst>
  <p:notesMasterIdLst>
    <p:notesMasterId xmlns:r="http://schemas.openxmlformats.org/officeDocument/2006/relationships" r:id="Rda0ab9f8d2544bce"/>
  </p:notesMasterIdLst>
  <p:sldIdLst>
    <p:sldId xmlns:r="http://schemas.openxmlformats.org/officeDocument/2006/relationships" id="256" r:id="Rb6a12940df934826"/>
    <p:sldId xmlns:r="http://schemas.openxmlformats.org/officeDocument/2006/relationships" id="257" r:id="Rf567bda541094f77"/>
    <p:sldId xmlns:r="http://schemas.openxmlformats.org/officeDocument/2006/relationships" id="258" r:id="R373ad66991c3419b"/>
    <p:sldId xmlns:r="http://schemas.openxmlformats.org/officeDocument/2006/relationships" id="259" r:id="R2c8e09c1e82c45f5"/>
    <p:sldId xmlns:r="http://schemas.openxmlformats.org/officeDocument/2006/relationships" id="260" r:id="R11431990e6444348"/>
    <p:sldId xmlns:r="http://schemas.openxmlformats.org/officeDocument/2006/relationships" id="261" r:id="Rb027b772b3894600"/>
    <p:sldId xmlns:r="http://schemas.openxmlformats.org/officeDocument/2006/relationships" id="262" r:id="R8cb251ca8d2a404f"/>
    <p:sldId xmlns:r="http://schemas.openxmlformats.org/officeDocument/2006/relationships" id="263" r:id="R04f7bd6f361b4abc"/>
    <p:sldId xmlns:r="http://schemas.openxmlformats.org/officeDocument/2006/relationships" id="264" r:id="Re3cc61de47d34314"/>
    <p:sldId xmlns:r="http://schemas.openxmlformats.org/officeDocument/2006/relationships" id="265" r:id="R8745ff099ffd43cb"/>
    <p:sldId xmlns:r="http://schemas.openxmlformats.org/officeDocument/2006/relationships" id="266" r:id="R99fb7b8a4c7f40d8"/>
    <p:sldId xmlns:r="http://schemas.openxmlformats.org/officeDocument/2006/relationships" id="267" r:id="R5820d7a21a5145d2"/>
    <p:sldId xmlns:r="http://schemas.openxmlformats.org/officeDocument/2006/relationships" id="268" r:id="Re4eb4f3e698b4a89"/>
    <p:sldId xmlns:r="http://schemas.openxmlformats.org/officeDocument/2006/relationships" id="269" r:id="Rb5907902992a40cd"/>
    <p:sldId xmlns:r="http://schemas.openxmlformats.org/officeDocument/2006/relationships" id="270" r:id="R7f5c5592e91a44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585d447f44413f" /><Relationship Type="http://schemas.openxmlformats.org/officeDocument/2006/relationships/slideMaster" Target="/ppt/slideMasters/slideMaster1.xml" Id="R866f4a13573d45e8" /><Relationship Type="http://schemas.openxmlformats.org/officeDocument/2006/relationships/notesMaster" Target="/ppt/notesMasters/notesMaster1.xml" Id="Rda0ab9f8d2544bce" /><Relationship Type="http://schemas.openxmlformats.org/officeDocument/2006/relationships/presProps" Target="/ppt/presProps.xml" Id="R2218411d22c54fe4" /><Relationship Type="http://schemas.openxmlformats.org/officeDocument/2006/relationships/tableStyles" Target="/ppt/tableStyles.xml" Id="R9402c0fcc3d845c8" /><Relationship Type="http://schemas.openxmlformats.org/officeDocument/2006/relationships/slide" Target="/ppt/slides/slide1.xml" Id="Rb6a12940df934826" /><Relationship Type="http://schemas.openxmlformats.org/officeDocument/2006/relationships/slide" Target="/ppt/slides/slide2.xml" Id="Rf567bda541094f77" /><Relationship Type="http://schemas.openxmlformats.org/officeDocument/2006/relationships/slide" Target="/ppt/slides/slide3.xml" Id="R373ad66991c3419b" /><Relationship Type="http://schemas.openxmlformats.org/officeDocument/2006/relationships/slide" Target="/ppt/slides/slide4.xml" Id="R2c8e09c1e82c45f5" /><Relationship Type="http://schemas.openxmlformats.org/officeDocument/2006/relationships/slide" Target="/ppt/slides/slide5.xml" Id="R11431990e6444348" /><Relationship Type="http://schemas.openxmlformats.org/officeDocument/2006/relationships/slide" Target="/ppt/slides/slide6.xml" Id="Rb027b772b3894600" /><Relationship Type="http://schemas.openxmlformats.org/officeDocument/2006/relationships/slide" Target="/ppt/slides/slide7.xml" Id="R8cb251ca8d2a404f" /><Relationship Type="http://schemas.openxmlformats.org/officeDocument/2006/relationships/slide" Target="/ppt/slides/slide8.xml" Id="R04f7bd6f361b4abc" /><Relationship Type="http://schemas.openxmlformats.org/officeDocument/2006/relationships/slide" Target="/ppt/slides/slide9.xml" Id="Re3cc61de47d34314" /><Relationship Type="http://schemas.openxmlformats.org/officeDocument/2006/relationships/slide" Target="/ppt/slides/slide10.xml" Id="R8745ff099ffd43cb" /><Relationship Type="http://schemas.openxmlformats.org/officeDocument/2006/relationships/slide" Target="/ppt/slides/slide11.xml" Id="R99fb7b8a4c7f40d8" /><Relationship Type="http://schemas.openxmlformats.org/officeDocument/2006/relationships/slide" Target="/ppt/slides/slide12.xml" Id="R5820d7a21a5145d2" /><Relationship Type="http://schemas.openxmlformats.org/officeDocument/2006/relationships/slide" Target="/ppt/slides/slide13.xml" Id="Re4eb4f3e698b4a89" /><Relationship Type="http://schemas.openxmlformats.org/officeDocument/2006/relationships/slide" Target="/ppt/slides/slide14.xml" Id="Rb5907902992a40cd" /><Relationship Type="http://schemas.openxmlformats.org/officeDocument/2006/relationships/slide" Target="/ppt/slides/slide15.xml" Id="R7f5c5592e91a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1f029e67b7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7ca71262fc4e8b" /><Relationship Type="http://schemas.openxmlformats.org/officeDocument/2006/relationships/notesMaster" Target="/ppt/notesMasters/notesMaster1.xml" Id="R7170ff01f7fd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98d610f4b544d0" /><Relationship Type="http://schemas.openxmlformats.org/officeDocument/2006/relationships/notesMaster" Target="/ppt/notesMasters/notesMaster1.xml" Id="R1e5715dd44a446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c6b7e7bb644cac" /><Relationship Type="http://schemas.openxmlformats.org/officeDocument/2006/relationships/notesMaster" Target="/ppt/notesMasters/notesMaster1.xml" Id="Re93dba4cb6d243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98db8994cb4c1f" /><Relationship Type="http://schemas.openxmlformats.org/officeDocument/2006/relationships/notesMaster" Target="/ppt/notesMasters/notesMaster1.xml" Id="R6600f7feed3e4b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4256de2cfa4a37" /><Relationship Type="http://schemas.openxmlformats.org/officeDocument/2006/relationships/notesMaster" Target="/ppt/notesMasters/notesMaster1.xml" Id="R1b1d9844397c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a2da5f624a4a24" /><Relationship Type="http://schemas.openxmlformats.org/officeDocument/2006/relationships/notesMaster" Target="/ppt/notesMasters/notesMaster1.xml" Id="R5be8ab014dbf49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26acc2f9c64928" /><Relationship Type="http://schemas.openxmlformats.org/officeDocument/2006/relationships/notesMaster" Target="/ppt/notesMasters/notesMaster1.xml" Id="R3a0e23dd028a49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adb02b8db4e55" /><Relationship Type="http://schemas.openxmlformats.org/officeDocument/2006/relationships/notesMaster" Target="/ppt/notesMasters/notesMaster1.xml" Id="R3ac7ec45f0b9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87afad12b34326" /><Relationship Type="http://schemas.openxmlformats.org/officeDocument/2006/relationships/notesMaster" Target="/ppt/notesMasters/notesMaster1.xml" Id="R3bd2baa1c0a24c7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a404cb0a404005" /><Relationship Type="http://schemas.openxmlformats.org/officeDocument/2006/relationships/notesMaster" Target="/ppt/notesMasters/notesMaster1.xml" Id="R6681024dc41442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58fdff9e64ff4" /><Relationship Type="http://schemas.openxmlformats.org/officeDocument/2006/relationships/notesMaster" Target="/ppt/notesMasters/notesMaster1.xml" Id="R26c2f18052044b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5e7326939f48bc" /><Relationship Type="http://schemas.openxmlformats.org/officeDocument/2006/relationships/notesMaster" Target="/ppt/notesMasters/notesMaster1.xml" Id="Rf471e050d1a04e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a29562dfe64803" /><Relationship Type="http://schemas.openxmlformats.org/officeDocument/2006/relationships/notesMaster" Target="/ppt/notesMasters/notesMaster1.xml" Id="Rdab5eb95bf6a439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fb4e977ea04f2f" /><Relationship Type="http://schemas.openxmlformats.org/officeDocument/2006/relationships/notesMaster" Target="/ppt/notesMasters/notesMaster1.xml" Id="Rb95ebcbda9fb43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d1d773ce0f48cf" /><Relationship Type="http://schemas.openxmlformats.org/officeDocument/2006/relationships/notesMaster" Target="/ppt/notesMasters/notesMaster1.xml" Id="R09dbcef51644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91e174a6b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6725b67ed4f4e" /><Relationship Type="http://schemas.openxmlformats.org/officeDocument/2006/relationships/slideLayout" Target="/ppt/slideLayouts/slideLayout1.xml" Id="R95b1e6c014fb4e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b1e6c014fb4e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2bf95e9b149fb" /><Relationship Type="http://schemas.openxmlformats.org/officeDocument/2006/relationships/notesSlide" Target="/ppt/notesSlides/notesSlide1.xml" Id="R80e13f19339043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8d25ea4f04b2c" /><Relationship Type="http://schemas.openxmlformats.org/officeDocument/2006/relationships/notesSlide" Target="/ppt/notesSlides/notesSlide2.xml" Id="Recc653b94ac6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763c8696de4b24" /><Relationship Type="http://schemas.openxmlformats.org/officeDocument/2006/relationships/notesSlide" Target="/ppt/notesSlides/notesSlide3.xml" Id="R0f9cf4cd795840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bb6ee64314264" /><Relationship Type="http://schemas.openxmlformats.org/officeDocument/2006/relationships/notesSlide" Target="/ppt/notesSlides/notesSlide4.xml" Id="R73983a5f8f4b47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70fd99f52466e" /><Relationship Type="http://schemas.openxmlformats.org/officeDocument/2006/relationships/notesSlide" Target="/ppt/notesSlides/notesSlide5.xml" Id="R7376058e96024e7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56d5b5fcb4ceb" /><Relationship Type="http://schemas.openxmlformats.org/officeDocument/2006/relationships/notesSlide" Target="/ppt/notesSlides/notesSlide6.xml" Id="Rdc94b067944d46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9397a2eb54212" /><Relationship Type="http://schemas.openxmlformats.org/officeDocument/2006/relationships/notesSlide" Target="/ppt/notesSlides/notesSlide7.xml" Id="Rb422b63e7e004d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01450dc274dae" /><Relationship Type="http://schemas.openxmlformats.org/officeDocument/2006/relationships/notesSlide" Target="/ppt/notesSlides/notesSlide8.xml" Id="R9add0176eb584b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c07cc4eb4277" /><Relationship Type="http://schemas.openxmlformats.org/officeDocument/2006/relationships/notesSlide" Target="/ppt/notesSlides/notesSlide9.xml" Id="Ra01c768d06cd45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70d7bd57f2463e" /><Relationship Type="http://schemas.openxmlformats.org/officeDocument/2006/relationships/notesSlide" Target="/ppt/notesSlides/notesSlide10.xml" Id="Rabe8690203374f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cf4a56f6478d" /><Relationship Type="http://schemas.openxmlformats.org/officeDocument/2006/relationships/notesSlide" Target="/ppt/notesSlides/notesSlide11.xml" Id="R53293cd0b5184e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375c6202f4b65" /><Relationship Type="http://schemas.openxmlformats.org/officeDocument/2006/relationships/notesSlide" Target="/ppt/notesSlides/notesSlide12.xml" Id="Rb6e7e89f17f846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d8d67512c4c2b" /><Relationship Type="http://schemas.openxmlformats.org/officeDocument/2006/relationships/notesSlide" Target="/ppt/notesSlides/notesSlide13.xml" Id="Re66302a3b0074d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dec7204bd4394" /><Relationship Type="http://schemas.openxmlformats.org/officeDocument/2006/relationships/notesSlide" Target="/ppt/notesSlides/notesSlide14.xml" Id="R07f381ab8d4d44b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7bd41bac04c04" /><Relationship Type="http://schemas.openxmlformats.org/officeDocument/2006/relationships/notesSlide" Target="/ppt/notesSlides/notesSlide15.xml" Id="R8ea159b1028542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DEC1574-6614-4BCA-819C-560BB816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050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DECISION DECK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83216DA-BF80-4ED4-81BC-19C57625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อัปเดตต้นทุน ระบบชำระเงิน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39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และทางเลือกกล้อง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5E97CF89-1029-4F83-94C7-DE07D9B7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725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สรุปจากโค้ดจริง + เอกสารธุรกิจ + ราคาอ้างอิง ณ 22 ก.ค. 2026</a:t>
            </a:r>
          </a:p>
        </p:txBody>
      </p:sp>
      <p:sp>
        <p:nvSpPr>
          <p:cNvPr id="4" name="cover-block">
            <a:extLst xmlns:a="http://schemas.openxmlformats.org/drawingml/2006/main">
              <a:ext uri="{FF2B5EF4-FFF2-40B4-BE49-F238E27FC236}">
                <a16:creationId xmlns:a16="http://schemas.microsoft.com/office/drawing/2014/main" id="{4C70ADBB-05BD-4299-AD0E-5C2CC17E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1C7F8CD4-92DF-48B2-83DA-D5811504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90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PAY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CAM</a:t>
            </a:r>
          </a:p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330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COST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25D9272F-4250-4AA7-92DE-9AC5B89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สำหรับเจ้าของโครงการและทีมธุรกิจ</a:t>
            </a:r>
          </a:p>
        </p:txBody>
      </p:sp>
      <p:sp>
        <p:nvSpPr>
          <p:cNvPr id="7" name="source">
            <a:extLst xmlns:a="http://schemas.openxmlformats.org/drawingml/2006/main">
              <a:ext uri="{FF2B5EF4-FFF2-40B4-BE49-F238E27FC236}">
                <a16:creationId xmlns:a16="http://schemas.microsoft.com/office/drawing/2014/main" id="{63B8275B-1D61-4F02-A838-A531A04C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BD51FB10-A6F3-4E31-A500-E78FF689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4975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108AC8B9-C20E-4CE4-8DE2-E5D2F764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5EFA28-8E78-4419-93A6-C23638C6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ข้อสรุป: เปิด Omise ได้ แต่ควรลงทุนกล้องแบบเป็นเฟส</a:t>
            </a:r>
          </a:p>
        </p:txBody>
      </p:sp>
      <p:sp>
        <p:nvSpPr>
          <p:cNvPr id="3" name="sum1">
            <a:extLst xmlns:a="http://schemas.openxmlformats.org/drawingml/2006/main">
              <a:ext uri="{FF2B5EF4-FFF2-40B4-BE49-F238E27FC236}">
                <a16:creationId xmlns:a16="http://schemas.microsoft.com/office/drawing/2014/main" id="{92CB5AAC-D5C9-4CDA-84A1-8279D7C3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1-accent">
            <a:extLst xmlns:a="http://schemas.openxmlformats.org/drawingml/2006/main">
              <a:ext uri="{FF2B5EF4-FFF2-40B4-BE49-F238E27FC236}">
                <a16:creationId xmlns:a16="http://schemas.microsoft.com/office/drawing/2014/main" id="{A5A01C18-1CB0-4583-A6DE-A6BF439D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um1-title">
            <a:extLst xmlns:a="http://schemas.openxmlformats.org/drawingml/2006/main">
              <a:ext uri="{FF2B5EF4-FFF2-40B4-BE49-F238E27FC236}">
                <a16:creationId xmlns:a16="http://schemas.microsoft.com/office/drawing/2014/main" id="{6BE55AE2-2D90-48F3-ACB0-46E9FD4B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Payment พร้อมระดับ MVP</a:t>
            </a:r>
          </a:p>
        </p:txBody>
      </p:sp>
      <p:sp>
        <p:nvSpPr>
          <p:cNvPr id="6" name="sum1-stat">
            <a:extLst xmlns:a="http://schemas.openxmlformats.org/drawingml/2006/main">
              <a:ext uri="{FF2B5EF4-FFF2-40B4-BE49-F238E27FC236}">
                <a16:creationId xmlns:a16="http://schemas.microsoft.com/office/drawing/2014/main" id="{C2C0B9CA-B0E1-48C3-B375-0BD2EB1D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81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1.7655% / 3.9055%</a:t>
            </a:r>
          </a:p>
        </p:txBody>
      </p:sp>
      <p:sp>
        <p:nvSpPr>
          <p:cNvPr id="7" name="sum1-body">
            <a:extLst xmlns:a="http://schemas.openxmlformats.org/drawingml/2006/main">
              <a:ext uri="{FF2B5EF4-FFF2-40B4-BE49-F238E27FC236}">
                <a16:creationId xmlns:a16="http://schemas.microsoft.com/office/drawing/2014/main" id="{1989B9E1-347C-4EBD-81F3-E7465F40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โค้ดรองรับบัตร, PromptPay, ตรวจสถานะ, webhook และคืนเงินแล้ว แต่ควรเพิ่ม idempotency, reconciliation และ monitoring ก่อนรับเงินจริง</a:t>
            </a:r>
          </a:p>
        </p:txBody>
      </p:sp>
      <p:sp>
        <p:nvSpPr>
          <p:cNvPr id="8" name="sum2">
            <a:extLst xmlns:a="http://schemas.openxmlformats.org/drawingml/2006/main">
              <a:ext uri="{FF2B5EF4-FFF2-40B4-BE49-F238E27FC236}">
                <a16:creationId xmlns:a16="http://schemas.microsoft.com/office/drawing/2014/main" id="{47E4E3CF-DBC2-4204-BA35-06302F4D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2-accent">
            <a:extLst xmlns:a="http://schemas.openxmlformats.org/drawingml/2006/main">
              <a:ext uri="{FF2B5EF4-FFF2-40B4-BE49-F238E27FC236}">
                <a16:creationId xmlns:a16="http://schemas.microsoft.com/office/drawing/2014/main" id="{F84EAF42-3621-4594-8261-D8EBE178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002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2-title">
            <a:extLst xmlns:a="http://schemas.openxmlformats.org/drawingml/2006/main">
              <a:ext uri="{FF2B5EF4-FFF2-40B4-BE49-F238E27FC236}">
                <a16:creationId xmlns:a16="http://schemas.microsoft.com/office/drawing/2014/main" id="{460BAE1A-146D-43BE-B8EE-21236E93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8097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ต้นทุนคงที่ยังควบคุมได้</a:t>
            </a:r>
          </a:p>
        </p:txBody>
      </p:sp>
      <p:sp>
        <p:nvSpPr>
          <p:cNvPr id="11" name="sum2-stat">
            <a:extLst xmlns:a="http://schemas.openxmlformats.org/drawingml/2006/main">
              <a:ext uri="{FF2B5EF4-FFF2-40B4-BE49-F238E27FC236}">
                <a16:creationId xmlns:a16="http://schemas.microsoft.com/office/drawing/2014/main" id="{31BECBF7-6A3A-4EFD-B199-BEFFB617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2885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~11,100 บาท/ปี</a:t>
            </a:r>
          </a:p>
        </p:txBody>
      </p:sp>
      <p:sp>
        <p:nvSpPr>
          <p:cNvPr id="12" name="sum2-body">
            <a:extLst xmlns:a="http://schemas.openxmlformats.org/drawingml/2006/main">
              <a:ext uri="{FF2B5EF4-FFF2-40B4-BE49-F238E27FC236}">
                <a16:creationId xmlns:a16="http://schemas.microsoft.com/office/drawing/2014/main" id="{6181E9A9-A2C5-4B55-979E-395D3728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Infrastructure ปีแรกในเอกสาร ~11,100 บาท ไม่รวม maintenance, gateway ตามยอดขาย, กล้อง/Mini Hub และค่าโอนเงินออก</a:t>
            </a:r>
          </a:p>
        </p:txBody>
      </p:sp>
      <p:sp>
        <p:nvSpPr>
          <p:cNvPr id="13" name="sum3">
            <a:extLst xmlns:a="http://schemas.openxmlformats.org/drawingml/2006/main">
              <a:ext uri="{FF2B5EF4-FFF2-40B4-BE49-F238E27FC236}">
                <a16:creationId xmlns:a16="http://schemas.microsoft.com/office/drawing/2014/main" id="{EB650D9F-54BE-45BA-9957-6D529C8B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562350" cy="40957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um3-accent">
            <a:extLst xmlns:a="http://schemas.openxmlformats.org/drawingml/2006/main">
              <a:ext uri="{FF2B5EF4-FFF2-40B4-BE49-F238E27FC236}">
                <a16:creationId xmlns:a16="http://schemas.microsoft.com/office/drawing/2014/main" id="{6318F3BB-EAAB-40DC-93D4-BA237AB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um3-title">
            <a:extLst xmlns:a="http://schemas.openxmlformats.org/drawingml/2006/main">
              <a:ext uri="{FF2B5EF4-FFF2-40B4-BE49-F238E27FC236}">
                <a16:creationId xmlns:a16="http://schemas.microsoft.com/office/drawing/2014/main" id="{707BCC08-3899-4D90-A0C4-D73A9ED3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แนะนำ Mini Hub แบบ phased</a:t>
            </a:r>
          </a:p>
        </p:txBody>
      </p:sp>
      <p:sp>
        <p:nvSpPr>
          <p:cNvPr id="16" name="sum3-stat">
            <a:extLst xmlns:a="http://schemas.openxmlformats.org/drawingml/2006/main">
              <a:ext uri="{FF2B5EF4-FFF2-40B4-BE49-F238E27FC236}">
                <a16:creationId xmlns:a16="http://schemas.microsoft.com/office/drawing/2014/main" id="{F2753AE9-6C9B-4163-BF56-2B9906FD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2885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64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เริ่ม Pilot 1–3 โรงแรม</a:t>
            </a:r>
          </a:p>
        </p:txBody>
      </p:sp>
      <p:sp>
        <p:nvSpPr>
          <p:cNvPr id="17" name="sum3-body">
            <a:extLst xmlns:a="http://schemas.openxmlformats.org/drawingml/2006/main">
              <a:ext uri="{FF2B5EF4-FFF2-40B4-BE49-F238E27FC236}">
                <a16:creationId xmlns:a16="http://schemas.microsoft.com/office/drawing/2014/main" id="{3001DD2B-C1AB-49B5-89D7-30DD165C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99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กล้อง RTSP รุ่นใหม่อย่างเดียวไม่ทำให้ดูกล้องนอกโรงแรมได้ Mini Hub แก้เส้นทางเครือข่ายและควบคุม privacy ได้ดีกว่า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0A6E583B-828B-44FB-957B-13FD54B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ที่มา: PetPal_Cost_Report.pdf, PetPal_Tech_Handoff.pdf และโค้ดในโปรเจกต์</a:t>
            </a:r>
          </a:p>
        </p:txBody>
      </p:sp>
      <p:sp>
        <p:nvSpPr>
          <p:cNvPr id="19" name="page">
            <a:extLst xmlns:a="http://schemas.openxmlformats.org/drawingml/2006/main">
              <a:ext uri="{FF2B5EF4-FFF2-40B4-BE49-F238E27FC236}">
                <a16:creationId xmlns:a16="http://schemas.microsoft.com/office/drawing/2014/main" id="{683D712D-4379-479B-809C-1389DFAF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823782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4D2B5A00-9E17-4AD4-9B1F-780DDA8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F05DBA-D0BB-46C1-B93C-8E30D25C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วันนี้ระบบทำอะไรได้จริง — และยังติดตรงไหน</a:t>
            </a:r>
          </a:p>
        </p:txBody>
      </p:sp>
      <p:sp>
        <p:nvSpPr>
          <p:cNvPr id="3" name="pay">
            <a:extLst xmlns:a="http://schemas.openxmlformats.org/drawingml/2006/main">
              <a:ext uri="{FF2B5EF4-FFF2-40B4-BE49-F238E27FC236}">
                <a16:creationId xmlns:a16="http://schemas.microsoft.com/office/drawing/2014/main" id="{ACBBEC17-5694-4225-82DD-FDB4D268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y-accent">
            <a:extLst xmlns:a="http://schemas.openxmlformats.org/drawingml/2006/main">
              <a:ext uri="{FF2B5EF4-FFF2-40B4-BE49-F238E27FC236}">
                <a16:creationId xmlns:a16="http://schemas.microsoft.com/office/drawing/2014/main" id="{C20E364D-4E90-4B75-A5CF-3216C271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y-title">
            <a:extLst xmlns:a="http://schemas.openxmlformats.org/drawingml/2006/main">
              <a:ext uri="{FF2B5EF4-FFF2-40B4-BE49-F238E27FC236}">
                <a16:creationId xmlns:a16="http://schemas.microsoft.com/office/drawing/2014/main" id="{98A58539-D568-42E6-8450-9625D1F5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การจองและชำระเงิน</a:t>
            </a:r>
          </a:p>
        </p:txBody>
      </p:sp>
      <p:sp>
        <p:nvSpPr>
          <p:cNvPr id="6" name="pay-body">
            <a:extLst xmlns:a="http://schemas.openxmlformats.org/drawingml/2006/main">
              <a:ext uri="{FF2B5EF4-FFF2-40B4-BE49-F238E27FC236}">
                <a16:creationId xmlns:a16="http://schemas.microsoft.com/office/drawing/2014/main" id="{02AAFD8A-AC3E-49BB-B45F-C06B4F5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สร้าง charge จากยอดจองเป็นสตางค์ รองรับ card token และ PromptPay QR บันทึกผลในฐานข้อมูล และ refund จากหน้า admin</a:t>
            </a:r>
          </a:p>
        </p:txBody>
      </p:sp>
      <p:sp>
        <p:nvSpPr>
          <p:cNvPr id="7" name="cam">
            <a:extLst xmlns:a="http://schemas.openxmlformats.org/drawingml/2006/main">
              <a:ext uri="{FF2B5EF4-FFF2-40B4-BE49-F238E27FC236}">
                <a16:creationId xmlns:a16="http://schemas.microsoft.com/office/drawing/2014/main" id="{30C73D73-53D6-45DA-A284-C51687F3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m-accent">
            <a:extLst xmlns:a="http://schemas.openxmlformats.org/drawingml/2006/main">
              <a:ext uri="{FF2B5EF4-FFF2-40B4-BE49-F238E27FC236}">
                <a16:creationId xmlns:a16="http://schemas.microsoft.com/office/drawing/2014/main" id="{822D7D54-920E-41BC-AE2A-DF426BE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192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m-title">
            <a:extLst xmlns:a="http://schemas.openxmlformats.org/drawingml/2006/main">
              <a:ext uri="{FF2B5EF4-FFF2-40B4-BE49-F238E27FC236}">
                <a16:creationId xmlns:a16="http://schemas.microsoft.com/office/drawing/2014/main" id="{2AD17BF3-1F74-49AA-A9C8-412269BE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การลงทะเบียนกล้อง</a:t>
            </a:r>
          </a:p>
        </p:txBody>
      </p:sp>
      <p:sp>
        <p:nvSpPr>
          <p:cNvPr id="10" name="cam-body">
            <a:extLst xmlns:a="http://schemas.openxmlformats.org/drawingml/2006/main">
              <a:ext uri="{FF2B5EF4-FFF2-40B4-BE49-F238E27FC236}">
                <a16:creationId xmlns:a16="http://schemas.microsoft.com/office/drawing/2014/main" id="{2DB2FAF3-B266-45BE-BFCB-C95C271B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66950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ช่างเพิ่มกล้อง RTSP/HTTP/ONVIF, เก็บรหัสผ่านแบบเข้ารหัส และลูกค้าดูได้เมื่อมี booking ของโรงแรมนั้น</a:t>
            </a:r>
          </a:p>
        </p:txBody>
      </p:sp>
      <p:sp>
        <p:nvSpPr>
          <p:cNvPr id="11" name="gap">
            <a:extLst xmlns:a="http://schemas.openxmlformats.org/drawingml/2006/main">
              <a:ext uri="{FF2B5EF4-FFF2-40B4-BE49-F238E27FC236}">
                <a16:creationId xmlns:a16="http://schemas.microsoft.com/office/drawing/2014/main" id="{CF27C3D4-4F4D-4B6E-A02E-5CA82667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3429000" cy="3905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ap-accent">
            <a:extLst xmlns:a="http://schemas.openxmlformats.org/drawingml/2006/main">
              <a:ext uri="{FF2B5EF4-FFF2-40B4-BE49-F238E27FC236}">
                <a16:creationId xmlns:a16="http://schemas.microsoft.com/office/drawing/2014/main" id="{3DEDF1E6-0BAE-4B90-9F79-0A980593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19250"/>
            <a:ext cx="762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4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ap-title">
            <a:extLst xmlns:a="http://schemas.openxmlformats.org/drawingml/2006/main">
              <a:ext uri="{FF2B5EF4-FFF2-40B4-BE49-F238E27FC236}">
                <a16:creationId xmlns:a16="http://schemas.microsoft.com/office/drawing/2014/main" id="{837AD90E-F286-4A05-8BD2-E587368F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2880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ช่องว่างก่อน Production</a:t>
            </a:r>
          </a:p>
        </p:txBody>
      </p:sp>
      <p:sp>
        <p:nvSpPr>
          <p:cNvPr id="14" name="gap-body">
            <a:extLst xmlns:a="http://schemas.openxmlformats.org/drawingml/2006/main">
              <a:ext uri="{FF2B5EF4-FFF2-40B4-BE49-F238E27FC236}">
                <a16:creationId xmlns:a16="http://schemas.microsoft.com/office/drawing/2014/main" id="{44E45EDC-FD6B-45C2-877A-3CF11127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908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URL กล้องยังมี credential และเป็น LAN IP; remote viewing ยังไม่เกิดจริง ขณะที่ payment ยังไม่มี idempotency/reconciliation workflow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C99F05B9-D7B7-4FEE-9FE8-969AF56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หลักฐานโค้ด: backend/app/api/payments.py, services/omise_client.py, api/cameras.py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A7994E79-A030-4699-9BE1-C829CBB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3458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8FB1C71E-94D9-44FA-A959-09754E03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6BA4560-B628-456F-A10C-71AFF132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Omise ไม่มีค่ารายเดือน แต่หักตามยอดชำระสำเร็จ</a:t>
            </a:r>
          </a:p>
        </p:txBody>
      </p:sp>
      <p:sp>
        <p:nvSpPr>
          <p:cNvPr id="3" name="pp">
            <a:extLst xmlns:a="http://schemas.openxmlformats.org/drawingml/2006/main">
              <a:ext uri="{FF2B5EF4-FFF2-40B4-BE49-F238E27FC236}">
                <a16:creationId xmlns:a16="http://schemas.microsoft.com/office/drawing/2014/main" id="{1ADCFF5A-BF74-48F8-9BD0-7E6454CD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476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p-accent">
            <a:extLst xmlns:a="http://schemas.openxmlformats.org/drawingml/2006/main">
              <a:ext uri="{FF2B5EF4-FFF2-40B4-BE49-F238E27FC236}">
                <a16:creationId xmlns:a16="http://schemas.microsoft.com/office/drawing/2014/main" id="{036DE9CD-0C06-488A-8D75-6C324196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p-title">
            <a:extLst xmlns:a="http://schemas.openxmlformats.org/drawingml/2006/main">
              <a:ext uri="{FF2B5EF4-FFF2-40B4-BE49-F238E27FC236}">
                <a16:creationId xmlns:a16="http://schemas.microsoft.com/office/drawing/2014/main" id="{8D4468E4-3D12-47C7-B640-70048C22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038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PromptPay</a:t>
            </a:r>
          </a:p>
        </p:txBody>
      </p:sp>
      <p:sp>
        <p:nvSpPr>
          <p:cNvPr id="6" name="pp-stat">
            <a:extLst xmlns:a="http://schemas.openxmlformats.org/drawingml/2006/main">
              <a:ext uri="{FF2B5EF4-FFF2-40B4-BE49-F238E27FC236}">
                <a16:creationId xmlns:a16="http://schemas.microsoft.com/office/drawing/2014/main" id="{095E20CB-F386-40B1-AA43-66C1C75A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038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ต้นทุนจริง 1.7655%</a:t>
            </a:r>
          </a:p>
        </p:txBody>
      </p:sp>
      <p:sp>
        <p:nvSpPr>
          <p:cNvPr id="7" name="pp-body">
            <a:extLst xmlns:a="http://schemas.openxmlformats.org/drawingml/2006/main">
              <a:ext uri="{FF2B5EF4-FFF2-40B4-BE49-F238E27FC236}">
                <a16:creationId xmlns:a16="http://schemas.microsoft.com/office/drawing/2014/main" id="{213B79E6-23FA-4D73-A221-DEDDB579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30384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ค่าธรรมเนียม 1.65% + VAT 7% ของค่าธรรมเนียม</a:t>
            </a:r>
          </a:p>
        </p:txBody>
      </p:sp>
      <p:sp>
        <p:nvSpPr>
          <p:cNvPr id="8" name="cc">
            <a:extLst xmlns:a="http://schemas.openxmlformats.org/drawingml/2006/main">
              <a:ext uri="{FF2B5EF4-FFF2-40B4-BE49-F238E27FC236}">
                <a16:creationId xmlns:a16="http://schemas.microsoft.com/office/drawing/2014/main" id="{9B387D5E-BDA3-40D3-840B-4BB7199A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14500"/>
            <a:ext cx="3476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c-accent">
            <a:extLst xmlns:a="http://schemas.openxmlformats.org/drawingml/2006/main">
              <a:ext uri="{FF2B5EF4-FFF2-40B4-BE49-F238E27FC236}">
                <a16:creationId xmlns:a16="http://schemas.microsoft.com/office/drawing/2014/main" id="{4755D9A4-AC90-44EB-8C24-533E178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14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c-title">
            <a:extLst xmlns:a="http://schemas.openxmlformats.org/drawingml/2006/main">
              <a:ext uri="{FF2B5EF4-FFF2-40B4-BE49-F238E27FC236}">
                <a16:creationId xmlns:a16="http://schemas.microsoft.com/office/drawing/2014/main" id="{0897E5DA-BC83-4F25-A27B-6A672CE7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924050"/>
            <a:ext cx="3038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บัตรเครดิต/เดบิต</a:t>
            </a:r>
          </a:p>
        </p:txBody>
      </p:sp>
      <p:sp>
        <p:nvSpPr>
          <p:cNvPr id="11" name="cc-stat">
            <a:extLst xmlns:a="http://schemas.openxmlformats.org/drawingml/2006/main">
              <a:ext uri="{FF2B5EF4-FFF2-40B4-BE49-F238E27FC236}">
                <a16:creationId xmlns:a16="http://schemas.microsoft.com/office/drawing/2014/main" id="{5501EB7F-3192-4910-9157-75B01993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43150"/>
            <a:ext cx="30384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ต้นทุนจริง 3.9055%</a:t>
            </a:r>
          </a:p>
        </p:txBody>
      </p:sp>
      <p:sp>
        <p:nvSpPr>
          <p:cNvPr id="12" name="cc-body">
            <a:extLst xmlns:a="http://schemas.openxmlformats.org/drawingml/2006/main">
              <a:ext uri="{FF2B5EF4-FFF2-40B4-BE49-F238E27FC236}">
                <a16:creationId xmlns:a16="http://schemas.microsoft.com/office/drawing/2014/main" id="{1C433A5B-FFA1-43BA-8D53-D3A60830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24200"/>
            <a:ext cx="30384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ค่าธรรมเนียม 3.65% + VAT 7% ของค่าธรรมเนียม</a:t>
            </a:r>
          </a:p>
        </p:txBody>
      </p:sp>
      <p:sp>
        <p:nvSpPr>
          <p:cNvPr id="13" name="wd">
            <a:extLst xmlns:a="http://schemas.openxmlformats.org/drawingml/2006/main">
              <a:ext uri="{FF2B5EF4-FFF2-40B4-BE49-F238E27FC236}">
                <a16:creationId xmlns:a16="http://schemas.microsoft.com/office/drawing/2014/main" id="{A954D03E-E21A-4F32-BC0B-4D91E103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861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d-accent">
            <a:extLst xmlns:a="http://schemas.openxmlformats.org/drawingml/2006/main">
              <a:ext uri="{FF2B5EF4-FFF2-40B4-BE49-F238E27FC236}">
                <a16:creationId xmlns:a16="http://schemas.microsoft.com/office/drawing/2014/main" id="{66035075-2D12-4C8D-B7A2-0F994F1C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d-title">
            <a:extLst xmlns:a="http://schemas.openxmlformats.org/drawingml/2006/main">
              <a:ext uri="{FF2B5EF4-FFF2-40B4-BE49-F238E27FC236}">
                <a16:creationId xmlns:a16="http://schemas.microsoft.com/office/drawing/2014/main" id="{2263F23B-0067-4363-9BF5-EAA3C496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โอนเข้าบัญชีธนาคาร</a:t>
            </a:r>
          </a:p>
        </p:txBody>
      </p:sp>
      <p:sp>
        <p:nvSpPr>
          <p:cNvPr id="16" name="wd-stat">
            <a:extLst xmlns:a="http://schemas.openxmlformats.org/drawingml/2006/main">
              <a:ext uri="{FF2B5EF4-FFF2-40B4-BE49-F238E27FC236}">
                <a16:creationId xmlns:a16="http://schemas.microsoft.com/office/drawing/2014/main" id="{740CADC6-8D57-4081-8F0F-979CFBD6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ควรรวมรอบโอน</a:t>
            </a:r>
          </a:p>
        </p:txBody>
      </p:sp>
      <p:sp>
        <p:nvSpPr>
          <p:cNvPr id="17" name="wd-body">
            <a:extLst xmlns:a="http://schemas.openxmlformats.org/drawingml/2006/main">
              <a:ext uri="{FF2B5EF4-FFF2-40B4-BE49-F238E27FC236}">
                <a16:creationId xmlns:a16="http://schemas.microsoft.com/office/drawing/2014/main" id="{93BC996C-AC9A-4394-929D-97848E55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24200"/>
            <a:ext cx="304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Omise pricing page ระบุ 20 บาท/ครั้ง เมื่อยอดโอนไม่เกิน 2 ล้านบาท</a:t>
            </a:r>
          </a:p>
        </p:txBody>
      </p:sp>
      <p:sp>
        <p:nvSpPr>
          <p:cNvPr id="18" name="note">
            <a:extLst xmlns:a="http://schemas.openxmlformats.org/drawingml/2006/main">
              <a:ext uri="{FF2B5EF4-FFF2-40B4-BE49-F238E27FC236}">
                <a16:creationId xmlns:a16="http://schemas.microsoft.com/office/drawing/2014/main" id="{7D7B3D59-31BF-4CE2-9D45-F39731AF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ไม่มี setup fee / monthly fee / minimum usage — ค่าใช้จ่ายเกิดเมื่อมีธุรกรรมสำเร็จ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44046244-7BC0-46FC-935A-1EDFB0EC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อ้างอิง: omise.co/en/pricing/thailand และ docs.omise.co (ตรวจ 22 ก.ค. 2026)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DA7B84A3-9BE0-4DE6-A3DE-DE35DD0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362019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C7C3EC5E-AE8E-4D1A-A96F-2F7946FC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2C4BA3B-176D-46BA-A8A8-BF663331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ทุกยอดจอง 2,000 บาท: PromptPay ประหยัดกว่าบัตร ~42.80 บาท</a:t>
            </a:r>
          </a:p>
        </p:txBody>
      </p:sp>
      <p:sp>
        <p:nvSpPr>
          <p:cNvPr id="3" name="row-0">
            <a:extLst xmlns:a="http://schemas.openxmlformats.org/drawingml/2006/main">
              <a:ext uri="{FF2B5EF4-FFF2-40B4-BE49-F238E27FC236}">
                <a16:creationId xmlns:a16="http://schemas.microsoft.com/office/drawing/2014/main" id="{5B21C9AC-FD41-4D63-9A34-9D9BF9C8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ell-0-0">
            <a:extLst xmlns:a="http://schemas.openxmlformats.org/drawingml/2006/main">
              <a:ext uri="{FF2B5EF4-FFF2-40B4-BE49-F238E27FC236}">
                <a16:creationId xmlns:a16="http://schemas.microsoft.com/office/drawing/2014/main" id="{03761CAA-1BA5-4252-811F-4496B3DC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ช่องทาง</a:t>
            </a:r>
          </a:p>
        </p:txBody>
      </p:sp>
      <p:sp>
        <p:nvSpPr>
          <p:cNvPr id="5" name="cell-0-1">
            <a:extLst xmlns:a="http://schemas.openxmlformats.org/drawingml/2006/main">
              <a:ext uri="{FF2B5EF4-FFF2-40B4-BE49-F238E27FC236}">
                <a16:creationId xmlns:a16="http://schemas.microsoft.com/office/drawing/2014/main" id="{A18DC2DD-B557-46B6-BAB2-B0AFEC8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859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ยอดลูกค้าจ่าย</a:t>
            </a:r>
          </a:p>
        </p:txBody>
      </p:sp>
      <p:sp>
        <p:nvSpPr>
          <p:cNvPr id="6" name="cell-0-2">
            <a:extLst xmlns:a="http://schemas.openxmlformats.org/drawingml/2006/main">
              <a:ext uri="{FF2B5EF4-FFF2-40B4-BE49-F238E27FC236}">
                <a16:creationId xmlns:a16="http://schemas.microsoft.com/office/drawing/2014/main" id="{E5A50A78-7FCF-456B-962E-04C2E23D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ค่าธรรมเนียม+VAT</a:t>
            </a:r>
          </a:p>
        </p:txBody>
      </p:sp>
      <p:sp>
        <p:nvSpPr>
          <p:cNvPr id="7" name="cell-0-3">
            <a:extLst xmlns:a="http://schemas.openxmlformats.org/drawingml/2006/main">
              <a:ext uri="{FF2B5EF4-FFF2-40B4-BE49-F238E27FC236}">
                <a16:creationId xmlns:a16="http://schemas.microsoft.com/office/drawing/2014/main" id="{3A1D26E2-04CB-4ADC-B65F-A448817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เงินคงเหลือก่อนค่าโอน</a:t>
            </a:r>
          </a:p>
        </p:txBody>
      </p:sp>
      <p:sp>
        <p:nvSpPr>
          <p:cNvPr id="8" name="row-1">
            <a:extLst xmlns:a="http://schemas.openxmlformats.org/drawingml/2006/main">
              <a:ext uri="{FF2B5EF4-FFF2-40B4-BE49-F238E27FC236}">
                <a16:creationId xmlns:a16="http://schemas.microsoft.com/office/drawing/2014/main" id="{D9D9492C-AE34-47F2-A11F-7E2A069A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ell-1-0">
            <a:extLst xmlns:a="http://schemas.openxmlformats.org/drawingml/2006/main">
              <a:ext uri="{FF2B5EF4-FFF2-40B4-BE49-F238E27FC236}">
                <a16:creationId xmlns:a16="http://schemas.microsoft.com/office/drawing/2014/main" id="{6BF0AC00-AE98-407A-96D7-53249F6F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PromptPay</a:t>
            </a:r>
          </a:p>
        </p:txBody>
      </p:sp>
      <p:sp>
        <p:nvSpPr>
          <p:cNvPr id="10" name="cell-1-1">
            <a:extLst xmlns:a="http://schemas.openxmlformats.org/drawingml/2006/main">
              <a:ext uri="{FF2B5EF4-FFF2-40B4-BE49-F238E27FC236}">
                <a16:creationId xmlns:a16="http://schemas.microsoft.com/office/drawing/2014/main" id="{F26D1A5D-DABB-4C1F-9AD3-C96EE645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860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2,000.00</a:t>
            </a:r>
          </a:p>
        </p:txBody>
      </p:sp>
      <p:sp>
        <p:nvSpPr>
          <p:cNvPr id="11" name="cell-1-2">
            <a:extLst xmlns:a="http://schemas.openxmlformats.org/drawingml/2006/main">
              <a:ext uri="{FF2B5EF4-FFF2-40B4-BE49-F238E27FC236}">
                <a16:creationId xmlns:a16="http://schemas.microsoft.com/office/drawing/2014/main" id="{598AD07E-B642-4AE8-A5BF-6A5F73D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35.31</a:t>
            </a:r>
          </a:p>
        </p:txBody>
      </p:sp>
      <p:sp>
        <p:nvSpPr>
          <p:cNvPr id="12" name="cell-1-3">
            <a:extLst xmlns:a="http://schemas.openxmlformats.org/drawingml/2006/main">
              <a:ext uri="{FF2B5EF4-FFF2-40B4-BE49-F238E27FC236}">
                <a16:creationId xmlns:a16="http://schemas.microsoft.com/office/drawing/2014/main" id="{DB8F8EA1-4ED4-4149-8399-6DA13C3E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1,964.69</a:t>
            </a:r>
          </a:p>
        </p:txBody>
      </p:sp>
      <p:sp>
        <p:nvSpPr>
          <p:cNvPr id="13" name="row-2">
            <a:extLst xmlns:a="http://schemas.openxmlformats.org/drawingml/2006/main">
              <a:ext uri="{FF2B5EF4-FFF2-40B4-BE49-F238E27FC236}">
                <a16:creationId xmlns:a16="http://schemas.microsoft.com/office/drawing/2014/main" id="{16845BCD-3C37-4812-A8AA-D9BF19B0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ell-2-0">
            <a:extLst xmlns:a="http://schemas.openxmlformats.org/drawingml/2006/main">
              <a:ext uri="{FF2B5EF4-FFF2-40B4-BE49-F238E27FC236}">
                <a16:creationId xmlns:a16="http://schemas.microsoft.com/office/drawing/2014/main" id="{C2DFF230-DFAD-41AF-A241-481ADB25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บัตร</a:t>
            </a:r>
          </a:p>
        </p:txBody>
      </p:sp>
      <p:sp>
        <p:nvSpPr>
          <p:cNvPr id="15" name="cell-2-1">
            <a:extLst xmlns:a="http://schemas.openxmlformats.org/drawingml/2006/main">
              <a:ext uri="{FF2B5EF4-FFF2-40B4-BE49-F238E27FC236}">
                <a16:creationId xmlns:a16="http://schemas.microsoft.com/office/drawing/2014/main" id="{C9DD9BBE-303E-42F2-9CB8-30FEE635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2,000.00</a:t>
            </a:r>
          </a:p>
        </p:txBody>
      </p:sp>
      <p:sp>
        <p:nvSpPr>
          <p:cNvPr id="16" name="cell-2-2">
            <a:extLst xmlns:a="http://schemas.openxmlformats.org/drawingml/2006/main">
              <a:ext uri="{FF2B5EF4-FFF2-40B4-BE49-F238E27FC236}">
                <a16:creationId xmlns:a16="http://schemas.microsoft.com/office/drawing/2014/main" id="{E2559234-F345-4E8A-B06E-E8DECF4F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861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78.11</a:t>
            </a:r>
          </a:p>
        </p:txBody>
      </p:sp>
      <p:sp>
        <p:nvSpPr>
          <p:cNvPr id="17" name="cell-2-3">
            <a:extLst xmlns:a="http://schemas.openxmlformats.org/drawingml/2006/main">
              <a:ext uri="{FF2B5EF4-FFF2-40B4-BE49-F238E27FC236}">
                <a16:creationId xmlns:a16="http://schemas.microsoft.com/office/drawing/2014/main" id="{84ADBD0A-6A26-4667-845A-492560FE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861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1,921.89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BE101132-A19D-44B4-A76B-8D6D1D2C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ell-3-0">
            <a:extLst xmlns:a="http://schemas.openxmlformats.org/drawingml/2006/main">
              <a:ext uri="{FF2B5EF4-FFF2-40B4-BE49-F238E27FC236}">
                <a16:creationId xmlns:a16="http://schemas.microsoft.com/office/drawing/2014/main" id="{4BD4E65B-44C2-4CB2-884A-15F63176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ส่วนต่าง</a:t>
            </a:r>
          </a:p>
        </p:txBody>
      </p:sp>
      <p:sp>
        <p:nvSpPr>
          <p:cNvPr id="20" name="cell-3-1">
            <a:extLst xmlns:a="http://schemas.openxmlformats.org/drawingml/2006/main">
              <a:ext uri="{FF2B5EF4-FFF2-40B4-BE49-F238E27FC236}">
                <a16:creationId xmlns:a16="http://schemas.microsoft.com/office/drawing/2014/main" id="{6424CC93-047F-44F9-AF9D-3C547011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—</a:t>
            </a:r>
          </a:p>
        </p:txBody>
      </p:sp>
      <p:sp>
        <p:nvSpPr>
          <p:cNvPr id="21" name="cell-3-2">
            <a:extLst xmlns:a="http://schemas.openxmlformats.org/drawingml/2006/main">
              <a:ext uri="{FF2B5EF4-FFF2-40B4-BE49-F238E27FC236}">
                <a16:creationId xmlns:a16="http://schemas.microsoft.com/office/drawing/2014/main" id="{37B0F0D9-1B4C-4892-8F22-2263E546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42.80</a:t>
            </a:r>
          </a:p>
        </p:txBody>
      </p:sp>
      <p:sp>
        <p:nvSpPr>
          <p:cNvPr id="22" name="cell-3-3">
            <a:extLst xmlns:a="http://schemas.openxmlformats.org/drawingml/2006/main">
              <a:ext uri="{FF2B5EF4-FFF2-40B4-BE49-F238E27FC236}">
                <a16:creationId xmlns:a16="http://schemas.microsoft.com/office/drawing/2014/main" id="{A1E3A767-74DC-4E1F-92D9-D703566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862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—</a:t>
            </a:r>
          </a:p>
        </p:txBody>
      </p:sp>
      <p:sp>
        <p:nvSpPr>
          <p:cNvPr id="23" name="formula">
            <a:extLst xmlns:a="http://schemas.openxmlformats.org/drawingml/2006/main">
              <a:ext uri="{FF2B5EF4-FFF2-40B4-BE49-F238E27FC236}">
                <a16:creationId xmlns:a16="http://schemas.microsoft.com/office/drawing/2014/main" id="{97F1A4EC-2546-46D8-9ADA-98687F5F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สูตร: ค่าธรรมเนียมรวม = ยอดขาย × rate × 1.07</a:t>
            </a:r>
          </a:p>
        </p:txBody>
      </p:sp>
      <p:sp>
        <p:nvSpPr>
          <p:cNvPr id="24" name="policy">
            <a:extLst xmlns:a="http://schemas.openxmlformats.org/drawingml/2006/main">
              <a:ext uri="{FF2B5EF4-FFF2-40B4-BE49-F238E27FC236}">
                <a16:creationId xmlns:a16="http://schemas.microsoft.com/office/drawing/2014/main" id="{B52EC768-B3B1-45B6-91DB-1682BA38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นโยบายแนะนำ: absorb fee ไว้ใน GP และทำ PromptPay เป็นตัวเลือกหลัก แต่ไม่บังคับลูกค้า</a:t>
            </a:r>
          </a:p>
        </p:txBody>
      </p:sp>
      <p:sp>
        <p:nvSpPr>
          <p:cNvPr id="25" name="source">
            <a:extLst xmlns:a="http://schemas.openxmlformats.org/drawingml/2006/main">
              <a:ext uri="{FF2B5EF4-FFF2-40B4-BE49-F238E27FC236}">
                <a16:creationId xmlns:a16="http://schemas.microsoft.com/office/drawing/2014/main" id="{3E861CAB-C54A-4AB5-8AC9-4CE11DAC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คำนวณจากอัตรามาตรฐาน Omise ประเทศไทย; ยังไม่รวมค่าถอน/โอนเข้าธนาคาร</a:t>
            </a:r>
          </a:p>
        </p:txBody>
      </p:sp>
      <p:sp>
        <p:nvSpPr>
          <p:cNvPr id="26" name="page">
            <a:extLst xmlns:a="http://schemas.openxmlformats.org/drawingml/2006/main">
              <a:ext uri="{FF2B5EF4-FFF2-40B4-BE49-F238E27FC236}">
                <a16:creationId xmlns:a16="http://schemas.microsoft.com/office/drawing/2014/main" id="{E0FB7C40-7799-472A-9CAF-4CB97546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94124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A09FFC17-84E9-457C-8B7A-A9735F25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3BEA68F-EB40-4B96-81EC-CE0A4D06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เมื่อยอดจองโต ค่า Gateway จะเป็นต้นทุนผันแปรหลัก</a:t>
            </a:r>
          </a:p>
        </p:txBody>
      </p:sp>
      <p:sp>
        <p:nvSpPr>
          <p:cNvPr id="3" name="chart-axis">
            <a:extLst xmlns:a="http://schemas.openxmlformats.org/drawingml/2006/main">
              <a:ext uri="{FF2B5EF4-FFF2-40B4-BE49-F238E27FC236}">
                <a16:creationId xmlns:a16="http://schemas.microsoft.com/office/drawing/2014/main" id="{681408F7-5C8C-45DF-847E-827E7DAB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149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ar-0">
            <a:extLst xmlns:a="http://schemas.openxmlformats.org/drawingml/2006/main">
              <a:ext uri="{FF2B5EF4-FFF2-40B4-BE49-F238E27FC236}">
                <a16:creationId xmlns:a16="http://schemas.microsoft.com/office/drawing/2014/main" id="{5FBAFFE2-A0C2-4514-8E33-5715E188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87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ar-val-0">
            <a:extLst xmlns:a="http://schemas.openxmlformats.org/drawingml/2006/main">
              <a:ext uri="{FF2B5EF4-FFF2-40B4-BE49-F238E27FC236}">
                <a16:creationId xmlns:a16="http://schemas.microsoft.com/office/drawing/2014/main" id="{A509394C-8810-4224-88FD-6EA956FB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2915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2,408 บาท</a:t>
            </a:r>
          </a:p>
        </p:txBody>
      </p:sp>
      <p:sp>
        <p:nvSpPr>
          <p:cNvPr id="6" name="bar-lab-0">
            <a:extLst xmlns:a="http://schemas.openxmlformats.org/drawingml/2006/main">
              <a:ext uri="{FF2B5EF4-FFF2-40B4-BE49-F238E27FC236}">
                <a16:creationId xmlns:a16="http://schemas.microsoft.com/office/drawing/2014/main" id="{F1B3DBC0-550C-4A42-B047-7BB66E2F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4673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50 จอง</a:t>
            </a:r>
          </a:p>
        </p:txBody>
      </p:sp>
      <p:sp>
        <p:nvSpPr>
          <p:cNvPr id="7" name="bar-1">
            <a:extLst xmlns:a="http://schemas.openxmlformats.org/drawingml/2006/main">
              <a:ext uri="{FF2B5EF4-FFF2-40B4-BE49-F238E27FC236}">
                <a16:creationId xmlns:a16="http://schemas.microsoft.com/office/drawing/2014/main" id="{F2B3159C-CE05-4758-9E06-937F88E8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8763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r-val-1">
            <a:extLst xmlns:a="http://schemas.openxmlformats.org/drawingml/2006/main">
              <a:ext uri="{FF2B5EF4-FFF2-40B4-BE49-F238E27FC236}">
                <a16:creationId xmlns:a16="http://schemas.microsoft.com/office/drawing/2014/main" id="{362B1501-E5DA-40A0-8AAA-C15DAE1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12,038 บาท</a:t>
            </a:r>
          </a:p>
        </p:txBody>
      </p:sp>
      <p:sp>
        <p:nvSpPr>
          <p:cNvPr id="9" name="bar-lab-1">
            <a:extLst xmlns:a="http://schemas.openxmlformats.org/drawingml/2006/main">
              <a:ext uri="{FF2B5EF4-FFF2-40B4-BE49-F238E27FC236}">
                <a16:creationId xmlns:a16="http://schemas.microsoft.com/office/drawing/2014/main" id="{BF0589B8-2167-4E4E-B333-6D41E86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673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250 จอง</a:t>
            </a:r>
          </a:p>
        </p:txBody>
      </p:sp>
      <p:sp>
        <p:nvSpPr>
          <p:cNvPr id="10" name="bar-2">
            <a:extLst xmlns:a="http://schemas.openxmlformats.org/drawingml/2006/main">
              <a:ext uri="{FF2B5EF4-FFF2-40B4-BE49-F238E27FC236}">
                <a16:creationId xmlns:a16="http://schemas.microsoft.com/office/drawing/2014/main" id="{D42ADB7C-EC4E-431D-8C0D-29FA340A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876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r-val-2">
            <a:extLst xmlns:a="http://schemas.openxmlformats.org/drawingml/2006/main">
              <a:ext uri="{FF2B5EF4-FFF2-40B4-BE49-F238E27FC236}">
                <a16:creationId xmlns:a16="http://schemas.microsoft.com/office/drawing/2014/main" id="{194B174B-AA89-4DB0-8DD2-59531E27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5240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48,150 บาท</a:t>
            </a:r>
          </a:p>
        </p:txBody>
      </p:sp>
      <p:sp>
        <p:nvSpPr>
          <p:cNvPr id="12" name="bar-lab-2">
            <a:extLst xmlns:a="http://schemas.openxmlformats.org/drawingml/2006/main">
              <a:ext uri="{FF2B5EF4-FFF2-40B4-BE49-F238E27FC236}">
                <a16:creationId xmlns:a16="http://schemas.microsoft.com/office/drawing/2014/main" id="{1A6557A4-2559-4A0B-98AD-F3BED5E5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4673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1,000 จอง</a:t>
            </a:r>
          </a:p>
        </p:txBody>
      </p:sp>
      <p:sp>
        <p:nvSpPr>
          <p:cNvPr id="13" name="chart-label">
            <a:extLst xmlns:a="http://schemas.openxmlformats.org/drawingml/2006/main">
              <a:ext uri="{FF2B5EF4-FFF2-40B4-BE49-F238E27FC236}">
                <a16:creationId xmlns:a16="http://schemas.microsoft.com/office/drawing/2014/main" id="{8941CA43-7CA3-4576-A22D-FFF8BEA1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ค่าธรรมเนียม Omise / เดือน</a:t>
            </a:r>
          </a:p>
        </p:txBody>
      </p:sp>
      <p:sp>
        <p:nvSpPr>
          <p:cNvPr id="14" name="assume">
            <a:extLst xmlns:a="http://schemas.openxmlformats.org/drawingml/2006/main">
              <a:ext uri="{FF2B5EF4-FFF2-40B4-BE49-F238E27FC236}">
                <a16:creationId xmlns:a16="http://schemas.microsoft.com/office/drawing/2014/main" id="{A922D83F-22AF-42E9-A98F-AE26161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9814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ssume-accent">
            <a:extLst xmlns:a="http://schemas.openxmlformats.org/drawingml/2006/main">
              <a:ext uri="{FF2B5EF4-FFF2-40B4-BE49-F238E27FC236}">
                <a16:creationId xmlns:a16="http://schemas.microsoft.com/office/drawing/2014/main" id="{12E8ABD1-697C-459A-AF59-068AD2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ssume-title">
            <a:extLst xmlns:a="http://schemas.openxmlformats.org/drawingml/2006/main">
              <a:ext uri="{FF2B5EF4-FFF2-40B4-BE49-F238E27FC236}">
                <a16:creationId xmlns:a16="http://schemas.microsoft.com/office/drawing/2014/main" id="{086A4E5C-327C-4999-B7A1-86E2CDCF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สมมติฐาน</a:t>
            </a:r>
          </a:p>
        </p:txBody>
      </p:sp>
      <p:sp>
        <p:nvSpPr>
          <p:cNvPr id="17" name="assume-body">
            <a:extLst xmlns:a="http://schemas.openxmlformats.org/drawingml/2006/main">
              <a:ext uri="{FF2B5EF4-FFF2-40B4-BE49-F238E27FC236}">
                <a16:creationId xmlns:a16="http://schemas.microsoft.com/office/drawing/2014/main" id="{53FCED90-C2C9-42FB-85D0-894D19D6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543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ยอดจองเฉลี่ย 2,000 บาท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PromptPay 70% / บัตร 30%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ค่าธรรมเนียมเฉลี่ย 2.4075%</a:t>
            </a:r>
          </a:p>
        </p:txBody>
      </p:sp>
      <p:sp>
        <p:nvSpPr>
          <p:cNvPr id="18" name="meaning">
            <a:extLst xmlns:a="http://schemas.openxmlformats.org/drawingml/2006/main">
              <a:ext uri="{FF2B5EF4-FFF2-40B4-BE49-F238E27FC236}">
                <a16:creationId xmlns:a16="http://schemas.microsoft.com/office/drawing/2014/main" id="{32B39A9D-A4A8-4754-A5D5-BFFE502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39814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aning-accent">
            <a:extLst xmlns:a="http://schemas.openxmlformats.org/drawingml/2006/main">
              <a:ext uri="{FF2B5EF4-FFF2-40B4-BE49-F238E27FC236}">
                <a16:creationId xmlns:a16="http://schemas.microsoft.com/office/drawing/2014/main" id="{EB203E79-7134-4157-B3F8-D364494E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67150"/>
            <a:ext cx="762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aning-title">
            <a:extLst xmlns:a="http://schemas.openxmlformats.org/drawingml/2006/main">
              <a:ext uri="{FF2B5EF4-FFF2-40B4-BE49-F238E27FC236}">
                <a16:creationId xmlns:a16="http://schemas.microsoft.com/office/drawing/2014/main" id="{670D970E-4FB0-410E-98C9-C9D56263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76700"/>
            <a:ext cx="354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ความหมาย</a:t>
            </a:r>
          </a:p>
        </p:txBody>
      </p:sp>
      <p:sp>
        <p:nvSpPr>
          <p:cNvPr id="21" name="meaning-body">
            <a:extLst xmlns:a="http://schemas.openxmlformats.org/drawingml/2006/main">
              <a:ext uri="{FF2B5EF4-FFF2-40B4-BE49-F238E27FC236}">
                <a16:creationId xmlns:a16="http://schemas.microsoft.com/office/drawing/2014/main" id="{5D3B5132-3342-4479-8B41-14E461E4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14850"/>
            <a:ext cx="35433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ทุกยอดขาย 100,000 บาท ควรสำรอง gateway ราว 2,408 บาท และจัดรอบโอนเพื่อลดค่าธรรมเนียมธนาคาร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F318016F-4FB8-424A-B67A-CCE8FBC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แบบจำลองของ PetPal; อัตรา gateway จาก Omise pricing ณ 22 ก.ค. 2026</a:t>
            </a:r>
          </a:p>
        </p:txBody>
      </p:sp>
      <p:sp>
        <p:nvSpPr>
          <p:cNvPr id="23" name="page">
            <a:extLst xmlns:a="http://schemas.openxmlformats.org/drawingml/2006/main">
              <a:ext uri="{FF2B5EF4-FFF2-40B4-BE49-F238E27FC236}">
                <a16:creationId xmlns:a16="http://schemas.microsoft.com/office/drawing/2014/main" id="{77379A34-0D00-475D-AD89-B10C147A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06102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49A5C098-E992-440C-9A66-D08ABBC7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390526-7D0A-4667-B47E-70B14A7C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งบที่ต้องเห็นเป็น 4 กระเป๋า ไม่ควรรวมเป็นก้อนเดียว</a:t>
            </a:r>
          </a:p>
        </p:txBody>
      </p:sp>
      <p:sp>
        <p:nvSpPr>
          <p:cNvPr id="3" name="costrow-0">
            <a:extLst xmlns:a="http://schemas.openxmlformats.org/drawingml/2006/main">
              <a:ext uri="{FF2B5EF4-FFF2-40B4-BE49-F238E27FC236}">
                <a16:creationId xmlns:a16="http://schemas.microsoft.com/office/drawing/2014/main" id="{F614B816-D189-4BEE-BFA4-0059FF28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1-0">
            <a:extLst xmlns:a="http://schemas.openxmlformats.org/drawingml/2006/main">
              <a:ext uri="{FF2B5EF4-FFF2-40B4-BE49-F238E27FC236}">
                <a16:creationId xmlns:a16="http://schemas.microsoft.com/office/drawing/2014/main" id="{F33071D1-00AC-4A1B-8380-DA389CF9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1  เปิดระบบ</a:t>
            </a:r>
          </a:p>
        </p:txBody>
      </p:sp>
      <p:sp>
        <p:nvSpPr>
          <p:cNvPr id="5" name="c2-0">
            <a:extLst xmlns:a="http://schemas.openxmlformats.org/drawingml/2006/main">
              <a:ext uri="{FF2B5EF4-FFF2-40B4-BE49-F238E27FC236}">
                <a16:creationId xmlns:a16="http://schemas.microsoft.com/office/drawing/2014/main" id="{8BF6BA05-A6CC-4F2B-8C61-3C96E97C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954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VPS 6,600/ปี + Apple ~3,600/ปี + Google Play ~900 ครั้งเดียว</a:t>
            </a:r>
          </a:p>
        </p:txBody>
      </p:sp>
      <p:sp>
        <p:nvSpPr>
          <p:cNvPr id="6" name="c3-0">
            <a:extLst xmlns:a="http://schemas.openxmlformats.org/drawingml/2006/main">
              <a:ext uri="{FF2B5EF4-FFF2-40B4-BE49-F238E27FC236}">
                <a16:creationId xmlns:a16="http://schemas.microsoft.com/office/drawing/2014/main" id="{EAAAEEF9-1C24-4A8F-AD7D-FC09F166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7145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~11,100 ปีแรก</a:t>
            </a:r>
          </a:p>
        </p:txBody>
      </p:sp>
      <p:sp>
        <p:nvSpPr>
          <p:cNvPr id="7" name="costrow-1">
            <a:extLst xmlns:a="http://schemas.openxmlformats.org/drawingml/2006/main">
              <a:ext uri="{FF2B5EF4-FFF2-40B4-BE49-F238E27FC236}">
                <a16:creationId xmlns:a16="http://schemas.microsoft.com/office/drawing/2014/main" id="{D05259F6-AB68-4297-93AA-A60050A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00325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0C7"/>
            </a:solidFill>
            <a:prstDash val="solid"/>
          </a:ln>
        </p:spPr>
      </p:sp>
      <p:sp>
        <p:nvSpPr>
          <p:cNvPr id="8" name="c1-1">
            <a:extLst xmlns:a="http://schemas.openxmlformats.org/drawingml/2006/main">
              <a:ext uri="{FF2B5EF4-FFF2-40B4-BE49-F238E27FC236}">
                <a16:creationId xmlns:a16="http://schemas.microsoft.com/office/drawing/2014/main" id="{6D4BCED3-D8B0-45A7-AA25-D39CE2D0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9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2  ดูแลระบบ</a:t>
            </a:r>
          </a:p>
        </p:txBody>
      </p:sp>
      <p:sp>
        <p:nvSpPr>
          <p:cNvPr id="9" name="c2-1">
            <a:extLst xmlns:a="http://schemas.openxmlformats.org/drawingml/2006/main">
              <a:ext uri="{FF2B5EF4-FFF2-40B4-BE49-F238E27FC236}">
                <a16:creationId xmlns:a16="http://schemas.microsoft.com/office/drawing/2014/main" id="{323E0996-C520-490B-A83E-D50E6CBD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Monitoring, security, bug fix, dependency และ provider changes</a:t>
            </a:r>
          </a:p>
        </p:txBody>
      </p:sp>
      <p:sp>
        <p:nvSpPr>
          <p:cNvPr id="10" name="c3-1">
            <a:extLst xmlns:a="http://schemas.openxmlformats.org/drawingml/2006/main">
              <a:ext uri="{FF2B5EF4-FFF2-40B4-BE49-F238E27FC236}">
                <a16:creationId xmlns:a16="http://schemas.microsoft.com/office/drawing/2014/main" id="{C6DFE739-4611-4D4F-9171-1596754C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908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2,000–8,000+/เดือน</a:t>
            </a:r>
          </a:p>
        </p:txBody>
      </p:sp>
      <p:sp>
        <p:nvSpPr>
          <p:cNvPr id="11" name="costrow-2">
            <a:extLst xmlns:a="http://schemas.openxmlformats.org/drawingml/2006/main">
              <a:ext uri="{FF2B5EF4-FFF2-40B4-BE49-F238E27FC236}">
                <a16:creationId xmlns:a16="http://schemas.microsoft.com/office/drawing/2014/main" id="{FE91F0FE-E57F-4FDC-8B5E-E8B4701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1-2">
            <a:extLst xmlns:a="http://schemas.openxmlformats.org/drawingml/2006/main">
              <a:ext uri="{FF2B5EF4-FFF2-40B4-BE49-F238E27FC236}">
                <a16:creationId xmlns:a16="http://schemas.microsoft.com/office/drawing/2014/main" id="{C5C52D37-FD59-4DE3-8D03-3EB83BEA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3  ตามยอดขาย</a:t>
            </a:r>
          </a:p>
        </p:txBody>
      </p:sp>
      <p:sp>
        <p:nvSpPr>
          <p:cNvPr id="13" name="c2-2">
            <a:extLst xmlns:a="http://schemas.openxmlformats.org/drawingml/2006/main">
              <a:ext uri="{FF2B5EF4-FFF2-40B4-BE49-F238E27FC236}">
                <a16:creationId xmlns:a16="http://schemas.microsoft.com/office/drawing/2014/main" id="{50842AC0-52E4-41B8-B3E0-B692FA3F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481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Omise 1.7655–3.9055% + ค่าโอนเข้าธนาคาร</a:t>
            </a:r>
          </a:p>
        </p:txBody>
      </p:sp>
      <p:sp>
        <p:nvSpPr>
          <p:cNvPr id="14" name="c3-2">
            <a:extLst xmlns:a="http://schemas.openxmlformats.org/drawingml/2006/main">
              <a:ext uri="{FF2B5EF4-FFF2-40B4-BE49-F238E27FC236}">
                <a16:creationId xmlns:a16="http://schemas.microsoft.com/office/drawing/2014/main" id="{53912CF5-0B0C-476A-BD02-78E1B231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8671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ผันแปร</a:t>
            </a:r>
          </a:p>
        </p:txBody>
      </p:sp>
      <p:sp>
        <p:nvSpPr>
          <p:cNvPr id="15" name="costrow-3">
            <a:extLst xmlns:a="http://schemas.openxmlformats.org/drawingml/2006/main">
              <a:ext uri="{FF2B5EF4-FFF2-40B4-BE49-F238E27FC236}">
                <a16:creationId xmlns:a16="http://schemas.microsoft.com/office/drawing/2014/main" id="{0D182D81-93A7-42E9-B006-C6FA2291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52975"/>
            <a:ext cx="11391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0C7"/>
            </a:solidFill>
            <a:prstDash val="solid"/>
          </a:ln>
        </p:spPr>
      </p:sp>
      <p:sp>
        <p:nvSpPr>
          <p:cNvPr id="16" name="c1-3">
            <a:extLst xmlns:a="http://schemas.openxmlformats.org/drawingml/2006/main">
              <a:ext uri="{FF2B5EF4-FFF2-40B4-BE49-F238E27FC236}">
                <a16:creationId xmlns:a16="http://schemas.microsoft.com/office/drawing/2014/main" id="{950D5EEA-3183-4BE5-B4E5-245D0F6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625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4  ต่อโรงแรม</a:t>
            </a:r>
          </a:p>
        </p:txBody>
      </p:sp>
      <p:sp>
        <p:nvSpPr>
          <p:cNvPr id="17" name="c2-3">
            <a:extLst xmlns:a="http://schemas.openxmlformats.org/drawingml/2006/main">
              <a:ext uri="{FF2B5EF4-FFF2-40B4-BE49-F238E27FC236}">
                <a16:creationId xmlns:a16="http://schemas.microsoft.com/office/drawing/2014/main" id="{D3333A80-A241-4BD4-A1D8-B24E878F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244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กล้อง 700–1,000/ตัว; Mini Hub 1,500–3,000/โรงแรม</a:t>
            </a:r>
          </a:p>
        </p:txBody>
      </p:sp>
      <p:sp>
        <p:nvSpPr>
          <p:cNvPr id="18" name="c3-3">
            <a:extLst xmlns:a="http://schemas.openxmlformats.org/drawingml/2006/main">
              <a:ext uri="{FF2B5EF4-FFF2-40B4-BE49-F238E27FC236}">
                <a16:creationId xmlns:a16="http://schemas.microsoft.com/office/drawing/2014/main" id="{92C36E07-F677-4A27-9AD3-68459D06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434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ตาม rollout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4A5CEC5-6928-4D96-B6DC-97CEBC97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ตัวเลขจาก PetPal_Cost_Report.pdf; ราคา VPS และอุปกรณ์ต้องยืนยันใบเสนอราคาก่อนซื้อ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06835DC2-C158-42E5-9E2D-537B746E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24895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3E5D9D40-A305-45D4-9770-206123A6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52C9E1-F194-49BE-84E6-F6424CD1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ก่อนเปิดรับเงินจริง ควรปิด 6 ช่องว่างของ Payment</a:t>
            </a:r>
          </a:p>
        </p:txBody>
      </p:sp>
      <p:sp>
        <p:nvSpPr>
          <p:cNvPr id="3" name="ready-0">
            <a:extLst xmlns:a="http://schemas.openxmlformats.org/drawingml/2006/main">
              <a:ext uri="{FF2B5EF4-FFF2-40B4-BE49-F238E27FC236}">
                <a16:creationId xmlns:a16="http://schemas.microsoft.com/office/drawing/2014/main" id="{93181F9B-DF18-4933-930B-4ACED0B1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6F38FC4C-F194-4ECE-A779-6D08DCF8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01</a:t>
            </a:r>
          </a:p>
        </p:txBody>
      </p:sp>
      <p:sp>
        <p:nvSpPr>
          <p:cNvPr id="5" name="rt-0">
            <a:extLst xmlns:a="http://schemas.openxmlformats.org/drawingml/2006/main">
              <a:ext uri="{FF2B5EF4-FFF2-40B4-BE49-F238E27FC236}">
                <a16:creationId xmlns:a16="http://schemas.microsoft.com/office/drawing/2014/main" id="{F59A17D0-2100-4807-9D02-94A3C4F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Idempotency</a:t>
            </a:r>
          </a:p>
        </p:txBody>
      </p:sp>
      <p:sp>
        <p:nvSpPr>
          <p:cNvPr id="6" name="rb-0">
            <a:extLst xmlns:a="http://schemas.openxmlformats.org/drawingml/2006/main">
              <a:ext uri="{FF2B5EF4-FFF2-40B4-BE49-F238E27FC236}">
                <a16:creationId xmlns:a16="http://schemas.microsoft.com/office/drawing/2014/main" id="{925A57DE-0C17-475C-A37F-810674F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กันกดจ่ายซ้ำ / retry แล้วเกิด charge ซ้ำ</a:t>
            </a:r>
          </a:p>
        </p:txBody>
      </p:sp>
      <p:sp>
        <p:nvSpPr>
          <p:cNvPr id="7" name="ready-1">
            <a:extLst xmlns:a="http://schemas.openxmlformats.org/drawingml/2006/main">
              <a:ext uri="{FF2B5EF4-FFF2-40B4-BE49-F238E27FC236}">
                <a16:creationId xmlns:a16="http://schemas.microsoft.com/office/drawing/2014/main" id="{9AAC7671-3358-46B7-AC02-4BD18FD2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um-1">
            <a:extLst xmlns:a="http://schemas.openxmlformats.org/drawingml/2006/main">
              <a:ext uri="{FF2B5EF4-FFF2-40B4-BE49-F238E27FC236}">
                <a16:creationId xmlns:a16="http://schemas.microsoft.com/office/drawing/2014/main" id="{BAE9B563-03BF-43BC-9FD3-AF950903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14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02</a:t>
            </a:r>
          </a:p>
        </p:txBody>
      </p:sp>
      <p:sp>
        <p:nvSpPr>
          <p:cNvPr id="9" name="rt-1">
            <a:extLst xmlns:a="http://schemas.openxmlformats.org/drawingml/2006/main">
              <a:ext uri="{FF2B5EF4-FFF2-40B4-BE49-F238E27FC236}">
                <a16:creationId xmlns:a16="http://schemas.microsoft.com/office/drawing/2014/main" id="{C6706922-E616-44B7-B84D-D6332A3F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954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Reconciliation</a:t>
            </a:r>
          </a:p>
        </p:txBody>
      </p:sp>
      <p:sp>
        <p:nvSpPr>
          <p:cNvPr id="10" name="rb-1">
            <a:extLst xmlns:a="http://schemas.openxmlformats.org/drawingml/2006/main">
              <a:ext uri="{FF2B5EF4-FFF2-40B4-BE49-F238E27FC236}">
                <a16:creationId xmlns:a16="http://schemas.microsoft.com/office/drawing/2014/main" id="{96B856B2-54EA-4164-856F-F667B8E7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เทียบ booking ↔ payment ↔ settlement ทุกวัน</a:t>
            </a:r>
          </a:p>
        </p:txBody>
      </p:sp>
      <p:sp>
        <p:nvSpPr>
          <p:cNvPr id="11" name="ready-2">
            <a:extLst xmlns:a="http://schemas.openxmlformats.org/drawingml/2006/main">
              <a:ext uri="{FF2B5EF4-FFF2-40B4-BE49-F238E27FC236}">
                <a16:creationId xmlns:a16="http://schemas.microsoft.com/office/drawing/2014/main" id="{699E020B-B39D-40EF-863D-736CB82A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um-2">
            <a:extLst xmlns:a="http://schemas.openxmlformats.org/drawingml/2006/main">
              <a:ext uri="{FF2B5EF4-FFF2-40B4-BE49-F238E27FC236}">
                <a16:creationId xmlns:a16="http://schemas.microsoft.com/office/drawing/2014/main" id="{2FCA7F8D-6B83-4C65-82EE-D0042A36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03</a:t>
            </a:r>
          </a:p>
        </p:txBody>
      </p:sp>
      <p:sp>
        <p:nvSpPr>
          <p:cNvPr id="13" name="rt-2">
            <a:extLst xmlns:a="http://schemas.openxmlformats.org/drawingml/2006/main">
              <a:ext uri="{FF2B5EF4-FFF2-40B4-BE49-F238E27FC236}">
                <a16:creationId xmlns:a16="http://schemas.microsoft.com/office/drawing/2014/main" id="{CBE7BD8B-1F4E-4DD2-B798-F8A5BC9E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Refund policy</a:t>
            </a:r>
          </a:p>
        </p:txBody>
      </p:sp>
      <p:sp>
        <p:nvSpPr>
          <p:cNvPr id="14" name="rb-2">
            <a:extLst xmlns:a="http://schemas.openxmlformats.org/drawingml/2006/main">
              <a:ext uri="{FF2B5EF4-FFF2-40B4-BE49-F238E27FC236}">
                <a16:creationId xmlns:a16="http://schemas.microsoft.com/office/drawing/2014/main" id="{87018DE3-B61C-46CB-BE2B-E26AB3B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กำหนด partial/full refund, SLA และผู้อนุมัติ</a:t>
            </a:r>
          </a:p>
        </p:txBody>
      </p:sp>
      <p:sp>
        <p:nvSpPr>
          <p:cNvPr id="15" name="ready-3">
            <a:extLst xmlns:a="http://schemas.openxmlformats.org/drawingml/2006/main">
              <a:ext uri="{FF2B5EF4-FFF2-40B4-BE49-F238E27FC236}">
                <a16:creationId xmlns:a16="http://schemas.microsoft.com/office/drawing/2014/main" id="{7860A73B-824A-40D8-9956-1ED9DAA3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um-3">
            <a:extLst xmlns:a="http://schemas.openxmlformats.org/drawingml/2006/main">
              <a:ext uri="{FF2B5EF4-FFF2-40B4-BE49-F238E27FC236}">
                <a16:creationId xmlns:a16="http://schemas.microsoft.com/office/drawing/2014/main" id="{9EEC9441-9BA0-4143-A3DB-6A562A51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1945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04</a:t>
            </a:r>
          </a:p>
        </p:txBody>
      </p:sp>
      <p:sp>
        <p:nvSpPr>
          <p:cNvPr id="17" name="rt-3">
            <a:extLst xmlns:a="http://schemas.openxmlformats.org/drawingml/2006/main">
              <a:ext uri="{FF2B5EF4-FFF2-40B4-BE49-F238E27FC236}">
                <a16:creationId xmlns:a16="http://schemas.microsoft.com/office/drawing/2014/main" id="{BCED0B05-0438-44E2-BE01-EAAA2F38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Monitoring</a:t>
            </a:r>
          </a:p>
        </p:txBody>
      </p:sp>
      <p:sp>
        <p:nvSpPr>
          <p:cNvPr id="18" name="rb-3">
            <a:extLst xmlns:a="http://schemas.openxmlformats.org/drawingml/2006/main">
              <a:ext uri="{FF2B5EF4-FFF2-40B4-BE49-F238E27FC236}">
                <a16:creationId xmlns:a16="http://schemas.microsoft.com/office/drawing/2014/main" id="{68062925-6A04-44B4-B636-26E2ABBF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004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แจ้งเตือน webhook ล้มเหลว, pending นาน, mismatch</a:t>
            </a:r>
          </a:p>
        </p:txBody>
      </p:sp>
      <p:sp>
        <p:nvSpPr>
          <p:cNvPr id="19" name="ready-4">
            <a:extLst xmlns:a="http://schemas.openxmlformats.org/drawingml/2006/main">
              <a:ext uri="{FF2B5EF4-FFF2-40B4-BE49-F238E27FC236}">
                <a16:creationId xmlns:a16="http://schemas.microsoft.com/office/drawing/2014/main" id="{6D70D1BB-B6BB-43DB-A26F-52FF2A4E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um-4">
            <a:extLst xmlns:a="http://schemas.openxmlformats.org/drawingml/2006/main">
              <a:ext uri="{FF2B5EF4-FFF2-40B4-BE49-F238E27FC236}">
                <a16:creationId xmlns:a16="http://schemas.microsoft.com/office/drawing/2014/main" id="{84DDE454-DB55-4535-A849-AD50443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05</a:t>
            </a:r>
          </a:p>
        </p:txBody>
      </p:sp>
      <p:sp>
        <p:nvSpPr>
          <p:cNvPr id="21" name="rt-4">
            <a:extLst xmlns:a="http://schemas.openxmlformats.org/drawingml/2006/main">
              <a:ext uri="{FF2B5EF4-FFF2-40B4-BE49-F238E27FC236}">
                <a16:creationId xmlns:a16="http://schemas.microsoft.com/office/drawing/2014/main" id="{189C89CC-7968-4869-9806-1187CB9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Security</a:t>
            </a:r>
          </a:p>
        </p:txBody>
      </p:sp>
      <p:sp>
        <p:nvSpPr>
          <p:cNvPr id="22" name="rb-4">
            <a:extLst xmlns:a="http://schemas.openxmlformats.org/drawingml/2006/main">
              <a:ext uri="{FF2B5EF4-FFF2-40B4-BE49-F238E27FC236}">
                <a16:creationId xmlns:a16="http://schemas.microsoft.com/office/drawing/2014/main" id="{10378B2D-CC10-4DC5-8FAA-13449605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054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เก็บ key ใน secret manager, rotate key, จำกัด raw_response</a:t>
            </a:r>
          </a:p>
        </p:txBody>
      </p:sp>
      <p:sp>
        <p:nvSpPr>
          <p:cNvPr id="23" name="ready-5">
            <a:extLst xmlns:a="http://schemas.openxmlformats.org/drawingml/2006/main">
              <a:ext uri="{FF2B5EF4-FFF2-40B4-BE49-F238E27FC236}">
                <a16:creationId xmlns:a16="http://schemas.microsoft.com/office/drawing/2014/main" id="{DB645B89-6707-405E-98BF-BFFD0590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5429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um-5">
            <a:extLst xmlns:a="http://schemas.openxmlformats.org/drawingml/2006/main">
              <a:ext uri="{FF2B5EF4-FFF2-40B4-BE49-F238E27FC236}">
                <a16:creationId xmlns:a16="http://schemas.microsoft.com/office/drawing/2014/main" id="{3A2854DC-3998-4AC2-A199-D020EDA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06</a:t>
            </a:r>
          </a:p>
        </p:txBody>
      </p:sp>
      <p:sp>
        <p:nvSpPr>
          <p:cNvPr id="25" name="rt-5">
            <a:extLst xmlns:a="http://schemas.openxmlformats.org/drawingml/2006/main">
              <a:ext uri="{FF2B5EF4-FFF2-40B4-BE49-F238E27FC236}">
                <a16:creationId xmlns:a16="http://schemas.microsoft.com/office/drawing/2014/main" id="{57FBFFCF-61DC-48D1-8B62-4BF93B70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05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Accounting</a:t>
            </a:r>
          </a:p>
        </p:txBody>
      </p:sp>
      <p:sp>
        <p:nvSpPr>
          <p:cNvPr id="26" name="rb-5">
            <a:extLst xmlns:a="http://schemas.openxmlformats.org/drawingml/2006/main">
              <a:ext uri="{FF2B5EF4-FFF2-40B4-BE49-F238E27FC236}">
                <a16:creationId xmlns:a16="http://schemas.microsoft.com/office/drawing/2014/main" id="{84895434-8ED5-4B03-A8FE-E4C242AB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054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แยก GP, gateway fee, VAT fee และเงินโรงแรมให้ชัด</a:t>
            </a:r>
          </a:p>
        </p:txBody>
      </p:sp>
      <p:sp>
        <p:nvSpPr>
          <p:cNvPr id="27" name="source">
            <a:extLst xmlns:a="http://schemas.openxmlformats.org/drawingml/2006/main">
              <a:ext uri="{FF2B5EF4-FFF2-40B4-BE49-F238E27FC236}">
                <a16:creationId xmlns:a16="http://schemas.microsoft.com/office/drawing/2014/main" id="{A1F138B6-1B2F-42A6-839C-4A2074B7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ข้อสังเกตจากการ review โค้ด ณ 22 ก.ค. 2026</a:t>
            </a:r>
          </a:p>
        </p:txBody>
      </p:sp>
      <p:sp>
        <p:nvSpPr>
          <p:cNvPr id="28" name="page">
            <a:extLst xmlns:a="http://schemas.openxmlformats.org/drawingml/2006/main">
              <a:ext uri="{FF2B5EF4-FFF2-40B4-BE49-F238E27FC236}">
                <a16:creationId xmlns:a16="http://schemas.microsoft.com/office/drawing/2014/main" id="{4C783DFE-8949-4AB7-B151-1F1B8448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78357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4F5C436F-C203-4C66-A20A-FCF8EF2A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C0101E-5580-42C3-ACAE-ACFBF0BF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74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ปัญหากล้องไม่ใช่ ‘ภาพชัดไหม’ แต่คือ ‘ดูจากข้างนอกได้อย่างปลอดภัยไหม’</a:t>
            </a:r>
          </a:p>
        </p:txBody>
      </p:sp>
      <p:sp>
        <p:nvSpPr>
          <p:cNvPr id="3" name="flow-bg">
            <a:extLst xmlns:a="http://schemas.openxmlformats.org/drawingml/2006/main">
              <a:ext uri="{FF2B5EF4-FFF2-40B4-BE49-F238E27FC236}">
                <a16:creationId xmlns:a16="http://schemas.microsoft.com/office/drawing/2014/main" id="{C6F133FC-8025-436E-8790-6FF0B8CD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13919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322C93FE-701E-4DBC-91A5-FC40D915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0C7"/>
            </a:solidFill>
            <a:prstDash val="solid"/>
          </a:ln>
        </p:spPr>
      </p:sp>
      <p:sp>
        <p:nvSpPr>
          <p:cNvPr id="5" name="node-t-0">
            <a:extLst xmlns:a="http://schemas.openxmlformats.org/drawingml/2006/main">
              <a:ext uri="{FF2B5EF4-FFF2-40B4-BE49-F238E27FC236}">
                <a16:creationId xmlns:a16="http://schemas.microsoft.com/office/drawing/2014/main" id="{235D0FE1-4663-4156-8CF8-F529A13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กล้อง RTSP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ในโรงแรม</a:t>
            </a:r>
          </a:p>
        </p:txBody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26320394-9A7C-418E-8EEC-CE75D6C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8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79F3A227-6876-494D-BF69-03F9C748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0C7"/>
            </a:solidFill>
            <a:prstDash val="solid"/>
          </a:ln>
        </p:spPr>
      </p:sp>
      <p:sp>
        <p:nvSpPr>
          <p:cNvPr id="8" name="node-t-1">
            <a:extLst xmlns:a="http://schemas.openxmlformats.org/drawingml/2006/main">
              <a:ext uri="{FF2B5EF4-FFF2-40B4-BE49-F238E27FC236}">
                <a16:creationId xmlns:a16="http://schemas.microsoft.com/office/drawing/2014/main" id="{2044DC02-1B27-43C4-9D0B-448DE9DF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5146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LAN IP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เข้าถึงได้เฉพาะวงใน</a:t>
            </a:r>
          </a:p>
        </p:txBody>
      </p:sp>
      <p:sp>
        <p:nvSpPr>
          <p:cNvPr id="9" name="arrow-1">
            <a:extLst xmlns:a="http://schemas.openxmlformats.org/drawingml/2006/main">
              <a:ext uri="{FF2B5EF4-FFF2-40B4-BE49-F238E27FC236}">
                <a16:creationId xmlns:a16="http://schemas.microsoft.com/office/drawing/2014/main" id="{C91C8F1C-5B48-4AC3-8475-404D989F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8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0" name="node-2">
            <a:extLst xmlns:a="http://schemas.openxmlformats.org/drawingml/2006/main">
              <a:ext uri="{FF2B5EF4-FFF2-40B4-BE49-F238E27FC236}">
                <a16:creationId xmlns:a16="http://schemas.microsoft.com/office/drawing/2014/main" id="{8ED8D074-53AA-409E-9E61-08683777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C0C7"/>
            </a:solidFill>
            <a:prstDash val="solid"/>
          </a:ln>
        </p:spPr>
      </p:sp>
      <p:sp>
        <p:nvSpPr>
          <p:cNvPr id="11" name="node-t-2">
            <a:extLst xmlns:a="http://schemas.openxmlformats.org/drawingml/2006/main">
              <a:ext uri="{FF2B5EF4-FFF2-40B4-BE49-F238E27FC236}">
                <a16:creationId xmlns:a16="http://schemas.microsoft.com/office/drawing/2014/main" id="{4831A300-251E-456F-924A-B041F659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146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Backend ตรวจสิทธิ์</a:t>
            </a:r>
          </a:p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แล้วส่ง URL</a:t>
            </a:r>
          </a:p>
        </p:txBody>
      </p:sp>
      <p:sp>
        <p:nvSpPr>
          <p:cNvPr id="12" name="arrow-2">
            <a:extLst xmlns:a="http://schemas.openxmlformats.org/drawingml/2006/main">
              <a:ext uri="{FF2B5EF4-FFF2-40B4-BE49-F238E27FC236}">
                <a16:creationId xmlns:a16="http://schemas.microsoft.com/office/drawing/2014/main" id="{4CA6497B-1DE3-4697-A97C-EAE95019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8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4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B9BF7138-3AE5-4CF8-9C3F-A7582526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38375"/>
            <a:ext cx="2095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BE7E7"/>
          </a:solidFill>
          <a:ln xmlns:a="http://schemas.openxmlformats.org/drawingml/2006/main" w="9525">
            <a:solidFill>
              <a:srgbClr val="D34A4A"/>
            </a:solidFill>
            <a:prstDash val="solid"/>
          </a:ln>
        </p:spPr>
      </p:sp>
      <p:sp>
        <p:nvSpPr>
          <p:cNvPr id="14" name="node-t-3">
            <a:extLst xmlns:a="http://schemas.openxmlformats.org/drawingml/2006/main">
              <a:ext uri="{FF2B5EF4-FFF2-40B4-BE49-F238E27FC236}">
                <a16:creationId xmlns:a16="http://schemas.microsoft.com/office/drawing/2014/main" id="{E786B26F-DD8D-445B-BB0B-0EDD5020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14600"/>
            <a:ext cx="1790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34A4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D34A4A"/>
                </a:solidFill>
                <a:latin typeface="Noto Sans Thai"/>
                <a:ea typeface="Noto Sans Thai"/>
                <a:cs typeface="Noto Sans Thai"/>
              </a:rPr>
              <a:t>มือถือข้างนอก</a:t>
            </a:r>
          </a:p>
          <a:p xmlns:a="http://schemas.openxmlformats.org/drawingml/2006/main">
            <a:pPr algn="ctr">
              <a:defRPr sz="1425" b="1">
                <a:solidFill>
                  <a:srgbClr val="D34A4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D34A4A"/>
                </a:solidFill>
                <a:latin typeface="Noto Sans Thai"/>
                <a:ea typeface="Noto Sans Thai"/>
                <a:cs typeface="Noto Sans Thai"/>
              </a:rPr>
              <a:t>เชื่อมต่อไม่ได้</a:t>
            </a:r>
          </a:p>
        </p:txBody>
      </p:sp>
      <p:sp>
        <p:nvSpPr>
          <p:cNvPr id="15" name="bullet-0">
            <a:extLst xmlns:a="http://schemas.openxmlformats.org/drawingml/2006/main">
              <a:ext uri="{FF2B5EF4-FFF2-40B4-BE49-F238E27FC236}">
                <a16:creationId xmlns:a16="http://schemas.microsoft.com/office/drawing/2014/main" id="{929492A9-7ACF-40AD-B011-A8284156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16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2B33D2E-DC1D-4F9B-B1FE-431F0702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110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การซื้อกล้อง RTSP รุ่นใหม่ยังคงได้ LAN IP แบบเดิม จึงไม่แก้ remote viewing</a:t>
            </a:r>
          </a:p>
        </p:txBody>
      </p:sp>
      <p:sp>
        <p:nvSpPr>
          <p:cNvPr id="17" name="bullet-1">
            <a:extLst xmlns:a="http://schemas.openxmlformats.org/drawingml/2006/main">
              <a:ext uri="{FF2B5EF4-FFF2-40B4-BE49-F238E27FC236}">
                <a16:creationId xmlns:a16="http://schemas.microsoft.com/office/drawing/2014/main" id="{23B8813E-4FE6-4BF6-BD0E-248A0075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482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18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01F2AC6-EC8C-4677-AE9D-BB7E07E9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110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การเปิด port กล้องออกอินเทอร์เน็ตตรง ๆ เพิ่มความเสี่ยงด้านความปลอดภัย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664F320B-BFF1-472B-8E96-20FE06A6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1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20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9D5C833-78A9-41EA-B666-CE8C7C3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1106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โค้ดปัจจุบันส่ง credential ใน RTSP URL ถึง client — ต้อง redesign ก่อน production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138B70A2-28B7-482B-B9E4-A9D92D1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ที่มา: PetPal_Tech_Handoff.pdf และ backend/app/api/cameras.py</a:t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B37B5E8E-FCD0-4CEB-A2DD-B374E247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275048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0B10E6F4-F258-4C4A-B9B2-1976D414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A2393D8-3B09-4093-9BEB-9E00116B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กล้อง Cloud เร็วกว่าในระยะสั้น; Mini Hub คุมต้นทุนและข้อมูลได้ดีกว่า</a:t>
            </a:r>
          </a:p>
        </p:txBody>
      </p:sp>
      <p:sp>
        <p:nvSpPr>
          <p:cNvPr id="3" name="h-0">
            <a:extLst xmlns:a="http://schemas.openxmlformats.org/drawingml/2006/main">
              <a:ext uri="{FF2B5EF4-FFF2-40B4-BE49-F238E27FC236}">
                <a16:creationId xmlns:a16="http://schemas.microsoft.com/office/drawing/2014/main" id="{4B263492-CC52-4B39-8AA8-C5BD921C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เกณฑ์</a:t>
            </a:r>
          </a:p>
        </p:txBody>
      </p:sp>
      <p:sp>
        <p:nvSpPr>
          <p:cNvPr id="4" name="h-1">
            <a:extLst xmlns:a="http://schemas.openxmlformats.org/drawingml/2006/main">
              <a:ext uri="{FF2B5EF4-FFF2-40B4-BE49-F238E27FC236}">
                <a16:creationId xmlns:a16="http://schemas.microsoft.com/office/drawing/2014/main" id="{D75F2623-9518-43E1-9A5B-C4C8436A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04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กล้อง Cloud / API ใหม่</a:t>
            </a:r>
          </a:p>
        </p:txBody>
      </p:sp>
      <p:sp>
        <p:nvSpPr>
          <p:cNvPr id="5" name="h-2">
            <a:extLst xmlns:a="http://schemas.openxmlformats.org/drawingml/2006/main">
              <a:ext uri="{FF2B5EF4-FFF2-40B4-BE49-F238E27FC236}">
                <a16:creationId xmlns:a16="http://schemas.microsoft.com/office/drawing/2014/main" id="{DB10EC38-C17E-42B4-8BBC-CCB64AAE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417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กล้องเดิม + Mini Hub</a:t>
            </a:r>
          </a:p>
        </p:txBody>
      </p:sp>
      <p:sp>
        <p:nvSpPr>
          <p:cNvPr id="6" name="head-bg">
            <a:extLst xmlns:a="http://schemas.openxmlformats.org/drawingml/2006/main">
              <a:ext uri="{FF2B5EF4-FFF2-40B4-BE49-F238E27FC236}">
                <a16:creationId xmlns:a16="http://schemas.microsoft.com/office/drawing/2014/main" id="{F83F3764-D6EE-47BA-8568-248AB9E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h-0">
            <a:extLst xmlns:a="http://schemas.openxmlformats.org/drawingml/2006/main">
              <a:ext uri="{FF2B5EF4-FFF2-40B4-BE49-F238E27FC236}">
                <a16:creationId xmlns:a16="http://schemas.microsoft.com/office/drawing/2014/main" id="{6F8844D1-7249-466F-A752-6C95332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เกณฑ์</a:t>
            </a:r>
          </a:p>
        </p:txBody>
      </p:sp>
      <p:sp>
        <p:nvSpPr>
          <p:cNvPr id="8" name="hh-1">
            <a:extLst xmlns:a="http://schemas.openxmlformats.org/drawingml/2006/main">
              <a:ext uri="{FF2B5EF4-FFF2-40B4-BE49-F238E27FC236}">
                <a16:creationId xmlns:a16="http://schemas.microsoft.com/office/drawing/2014/main" id="{4293791D-6886-463B-B573-D05AB233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430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กล้อง Cloud / API ใหม่</a:t>
            </a:r>
          </a:p>
        </p:txBody>
      </p:sp>
      <p:sp>
        <p:nvSpPr>
          <p:cNvPr id="9" name="hh-2">
            <a:extLst xmlns:a="http://schemas.openxmlformats.org/drawingml/2006/main">
              <a:ext uri="{FF2B5EF4-FFF2-40B4-BE49-F238E27FC236}">
                <a16:creationId xmlns:a16="http://schemas.microsoft.com/office/drawing/2014/main" id="{04B5DE77-9B3A-4A8E-A400-28B6041D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430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FFFFFF"/>
                </a:solidFill>
                <a:latin typeface="Noto Sans Thai"/>
                <a:ea typeface="Noto Sans Thai"/>
                <a:cs typeface="Noto Sans Thai"/>
              </a:rPr>
              <a:t>กล้องเดิม + Mini Hub</a:t>
            </a:r>
          </a:p>
        </p:txBody>
      </p:sp>
      <p:sp>
        <p:nvSpPr>
          <p:cNvPr id="10" name="cmp-0">
            <a:extLst xmlns:a="http://schemas.openxmlformats.org/drawingml/2006/main">
              <a:ext uri="{FF2B5EF4-FFF2-40B4-BE49-F238E27FC236}">
                <a16:creationId xmlns:a16="http://schemas.microsoft.com/office/drawing/2014/main" id="{69D76543-327A-41CF-82FE-F5D71878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-0">
            <a:extLst xmlns:a="http://schemas.openxmlformats.org/drawingml/2006/main">
              <a:ext uri="{FF2B5EF4-FFF2-40B4-BE49-F238E27FC236}">
                <a16:creationId xmlns:a16="http://schemas.microsoft.com/office/drawing/2014/main" id="{A8A3BF3A-426E-40B5-8346-FAE65FFB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เริ่มใช้งาน</a:t>
            </a:r>
          </a:p>
        </p:txBody>
      </p:sp>
      <p:sp>
        <p:nvSpPr>
          <p:cNvPr id="12" name="b-0">
            <a:extLst xmlns:a="http://schemas.openxmlformats.org/drawingml/2006/main">
              <a:ext uri="{FF2B5EF4-FFF2-40B4-BE49-F238E27FC236}">
                <a16:creationId xmlns:a16="http://schemas.microsoft.com/office/drawing/2014/main" id="{6CBBCD9E-4AD0-4DF7-944A-EBFFB2E9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526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เร็วกว่า หาก vendor API พร้อม</a:t>
            </a:r>
          </a:p>
        </p:txBody>
      </p:sp>
      <p:sp>
        <p:nvSpPr>
          <p:cNvPr id="13" name="c-0">
            <a:extLst xmlns:a="http://schemas.openxmlformats.org/drawingml/2006/main">
              <a:ext uri="{FF2B5EF4-FFF2-40B4-BE49-F238E27FC236}">
                <a16:creationId xmlns:a16="http://schemas.microsoft.com/office/drawing/2014/main" id="{FA7FAFB6-E587-43C4-B11A-9592D8DF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ต้องพัฒนาและติดตั้ง edge software</a:t>
            </a:r>
          </a:p>
        </p:txBody>
      </p:sp>
      <p:sp>
        <p:nvSpPr>
          <p:cNvPr id="14" name="cmp-1">
            <a:extLst xmlns:a="http://schemas.openxmlformats.org/drawingml/2006/main">
              <a:ext uri="{FF2B5EF4-FFF2-40B4-BE49-F238E27FC236}">
                <a16:creationId xmlns:a16="http://schemas.microsoft.com/office/drawing/2014/main" id="{146C9AE9-4B7A-4472-A244-187B4339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-1">
            <a:extLst xmlns:a="http://schemas.openxmlformats.org/drawingml/2006/main">
              <a:ext uri="{FF2B5EF4-FFF2-40B4-BE49-F238E27FC236}">
                <a16:creationId xmlns:a16="http://schemas.microsoft.com/office/drawing/2014/main" id="{1D24B829-7E4F-4CE7-B065-00A7FC47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ต้นทุน</a:t>
            </a:r>
          </a:p>
        </p:txBody>
      </p:sp>
      <p:sp>
        <p:nvSpPr>
          <p:cNvPr id="16" name="b-1">
            <a:extLst xmlns:a="http://schemas.openxmlformats.org/drawingml/2006/main">
              <a:ext uri="{FF2B5EF4-FFF2-40B4-BE49-F238E27FC236}">
                <a16:creationId xmlns:a16="http://schemas.microsoft.com/office/drawing/2014/main" id="{8EC80F14-2599-457D-AF50-DDEABA1C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03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รายปีต่อกล้อง + data quota</a:t>
            </a:r>
          </a:p>
        </p:txBody>
      </p:sp>
      <p:sp>
        <p:nvSpPr>
          <p:cNvPr id="17" name="c-1">
            <a:extLst xmlns:a="http://schemas.openxmlformats.org/drawingml/2006/main">
              <a:ext uri="{FF2B5EF4-FFF2-40B4-BE49-F238E27FC236}">
                <a16:creationId xmlns:a16="http://schemas.microsoft.com/office/drawing/2014/main" id="{141B510D-E8A6-4362-93E8-770CA24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ครั้งเดียวต่อโรงแรม + ดูแล hub</a:t>
            </a:r>
          </a:p>
        </p:txBody>
      </p:sp>
      <p:sp>
        <p:nvSpPr>
          <p:cNvPr id="18" name="cmp-2">
            <a:extLst xmlns:a="http://schemas.openxmlformats.org/drawingml/2006/main">
              <a:ext uri="{FF2B5EF4-FFF2-40B4-BE49-F238E27FC236}">
                <a16:creationId xmlns:a16="http://schemas.microsoft.com/office/drawing/2014/main" id="{969237B9-F2BB-405A-BE4A-F7B2F266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-2">
            <a:extLst xmlns:a="http://schemas.openxmlformats.org/drawingml/2006/main">
              <a:ext uri="{FF2B5EF4-FFF2-40B4-BE49-F238E27FC236}">
                <a16:creationId xmlns:a16="http://schemas.microsoft.com/office/drawing/2014/main" id="{4B5F9E4B-4228-4585-9A49-1A8D9E3F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Privacy</a:t>
            </a:r>
          </a:p>
        </p:txBody>
      </p:sp>
      <p:sp>
        <p:nvSpPr>
          <p:cNvPr id="20" name="b-2">
            <a:extLst xmlns:a="http://schemas.openxmlformats.org/drawingml/2006/main">
              <a:ext uri="{FF2B5EF4-FFF2-40B4-BE49-F238E27FC236}">
                <a16:creationId xmlns:a16="http://schemas.microsoft.com/office/drawing/2014/main" id="{57DF2D78-ADCE-42BC-9844-57D81159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480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วิดีโอผ่าน cloud ของ vendor</a:t>
            </a:r>
          </a:p>
        </p:txBody>
      </p:sp>
      <p:sp>
        <p:nvSpPr>
          <p:cNvPr id="21" name="c-2">
            <a:extLst xmlns:a="http://schemas.openxmlformats.org/drawingml/2006/main">
              <a:ext uri="{FF2B5EF4-FFF2-40B4-BE49-F238E27FC236}">
                <a16:creationId xmlns:a16="http://schemas.microsoft.com/office/drawing/2014/main" id="{EFC830B6-A35F-44D5-A1DB-F701CE6F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ข้อมูลอยู่ในเครือข่ายโรงแรมมากกว่า</a:t>
            </a:r>
          </a:p>
        </p:txBody>
      </p:sp>
      <p:sp>
        <p:nvSpPr>
          <p:cNvPr id="22" name="cmp-3">
            <a:extLst xmlns:a="http://schemas.openxmlformats.org/drawingml/2006/main">
              <a:ext uri="{FF2B5EF4-FFF2-40B4-BE49-F238E27FC236}">
                <a16:creationId xmlns:a16="http://schemas.microsoft.com/office/drawing/2014/main" id="{CA574349-00DB-4F8F-BF2F-14C98EA5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-3">
            <a:extLst xmlns:a="http://schemas.openxmlformats.org/drawingml/2006/main">
              <a:ext uri="{FF2B5EF4-FFF2-40B4-BE49-F238E27FC236}">
                <a16:creationId xmlns:a16="http://schemas.microsoft.com/office/drawing/2014/main" id="{0C16D01B-DCDC-46AB-BDEC-88A12442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Vendor lock-in</a:t>
            </a:r>
          </a:p>
        </p:txBody>
      </p:sp>
      <p:sp>
        <p:nvSpPr>
          <p:cNvPr id="24" name="b-3">
            <a:extLst xmlns:a="http://schemas.openxmlformats.org/drawingml/2006/main">
              <a:ext uri="{FF2B5EF4-FFF2-40B4-BE49-F238E27FC236}">
                <a16:creationId xmlns:a16="http://schemas.microsoft.com/office/drawing/2014/main" id="{B4DE2680-A0C9-4994-86CE-9FF199D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สูง</a:t>
            </a:r>
          </a:p>
        </p:txBody>
      </p:sp>
      <p:sp>
        <p:nvSpPr>
          <p:cNvPr id="25" name="c-3">
            <a:extLst xmlns:a="http://schemas.openxmlformats.org/drawingml/2006/main">
              <a:ext uri="{FF2B5EF4-FFF2-40B4-BE49-F238E27FC236}">
                <a16:creationId xmlns:a16="http://schemas.microsoft.com/office/drawing/2014/main" id="{CCB73AA5-767C-4F61-A6B9-356EDC30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ต่ำกว่า / เปลี่ยนกล้อง RTSP ได้</a:t>
            </a:r>
          </a:p>
        </p:txBody>
      </p:sp>
      <p:sp>
        <p:nvSpPr>
          <p:cNvPr id="26" name="cmp-4">
            <a:extLst xmlns:a="http://schemas.openxmlformats.org/drawingml/2006/main">
              <a:ext uri="{FF2B5EF4-FFF2-40B4-BE49-F238E27FC236}">
                <a16:creationId xmlns:a16="http://schemas.microsoft.com/office/drawing/2014/main" id="{97EB6838-5622-4E29-9147-AAA0749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-4">
            <a:extLst xmlns:a="http://schemas.openxmlformats.org/drawingml/2006/main">
              <a:ext uri="{FF2B5EF4-FFF2-40B4-BE49-F238E27FC236}">
                <a16:creationId xmlns:a16="http://schemas.microsoft.com/office/drawing/2014/main" id="{BF1655FC-A5F2-4185-8346-C7B74C43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Scale</a:t>
            </a:r>
          </a:p>
        </p:txBody>
      </p:sp>
      <p:sp>
        <p:nvSpPr>
          <p:cNvPr id="28" name="b-4">
            <a:extLst xmlns:a="http://schemas.openxmlformats.org/drawingml/2006/main">
              <a:ext uri="{FF2B5EF4-FFF2-40B4-BE49-F238E27FC236}">
                <a16:creationId xmlns:a16="http://schemas.microsoft.com/office/drawing/2014/main" id="{87AF28BE-2A19-4C1C-B82D-7D881E3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43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VPS PetPal แทบไม่แบกวิดีโอ</a:t>
            </a:r>
          </a:p>
        </p:txBody>
      </p:sp>
      <p:sp>
        <p:nvSpPr>
          <p:cNvPr id="29" name="c-4">
            <a:extLst xmlns:a="http://schemas.openxmlformats.org/drawingml/2006/main">
              <a:ext uri="{FF2B5EF4-FFF2-40B4-BE49-F238E27FC236}">
                <a16:creationId xmlns:a16="http://schemas.microsoft.com/office/drawing/2014/main" id="{8F4A123F-2351-4A7D-BD87-A3F8604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434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กระจายโหลด; ยังต้องมี TURN fallback</a:t>
            </a:r>
          </a:p>
        </p:txBody>
      </p:sp>
      <p:sp>
        <p:nvSpPr>
          <p:cNvPr id="30" name="cmp-5">
            <a:extLst xmlns:a="http://schemas.openxmlformats.org/drawingml/2006/main">
              <a:ext uri="{FF2B5EF4-FFF2-40B4-BE49-F238E27FC236}">
                <a16:creationId xmlns:a16="http://schemas.microsoft.com/office/drawing/2014/main" id="{0413E982-D653-4B3B-A8DD-FF905788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a-5">
            <a:extLst xmlns:a="http://schemas.openxmlformats.org/drawingml/2006/main">
              <a:ext uri="{FF2B5EF4-FFF2-40B4-BE49-F238E27FC236}">
                <a16:creationId xmlns:a16="http://schemas.microsoft.com/office/drawing/2014/main" id="{04778FB6-FF75-4D3C-911A-1F30335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97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เหมาะกับ</a:t>
            </a:r>
          </a:p>
        </p:txBody>
      </p:sp>
      <p:sp>
        <p:nvSpPr>
          <p:cNvPr id="32" name="b-5">
            <a:extLst xmlns:a="http://schemas.openxmlformats.org/drawingml/2006/main">
              <a:ext uri="{FF2B5EF4-FFF2-40B4-BE49-F238E27FC236}">
                <a16:creationId xmlns:a16="http://schemas.microsoft.com/office/drawing/2014/main" id="{515A1BBB-6B29-4512-A629-7BAB2266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91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Pilot เร่งด่วนที่ยอมรับ recurring fee</a:t>
            </a:r>
          </a:p>
        </p:txBody>
      </p:sp>
      <p:sp>
        <p:nvSpPr>
          <p:cNvPr id="33" name="c-5">
            <a:extLst xmlns:a="http://schemas.openxmlformats.org/drawingml/2006/main">
              <a:ext uri="{FF2B5EF4-FFF2-40B4-BE49-F238E27FC236}">
                <a16:creationId xmlns:a16="http://schemas.microsoft.com/office/drawing/2014/main" id="{901A8C59-EB92-48A1-B27C-1C9F6C48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3790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12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แผนหลักระยะยาวหลายกล้อง/โรงแรม</a:t>
            </a:r>
          </a:p>
        </p:txBody>
      </p:sp>
      <p:sp>
        <p:nvSpPr>
          <p:cNvPr id="34" name="source">
            <a:extLst xmlns:a="http://schemas.openxmlformats.org/drawingml/2006/main">
              <a:ext uri="{FF2B5EF4-FFF2-40B4-BE49-F238E27FC236}">
                <a16:creationId xmlns:a16="http://schemas.microsoft.com/office/drawing/2014/main" id="{6CD66F77-7836-49C4-A52C-5338D63C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กล้อง Cloud อ้างอิงการสำรวจใน PetPal_Cost_Report.pdf; ต้องขอราคา/quota vendor ก่อนตัดสินใจ</a:t>
            </a:r>
          </a:p>
        </p:txBody>
      </p:sp>
      <p:sp>
        <p:nvSpPr>
          <p:cNvPr id="35" name="page">
            <a:extLst xmlns:a="http://schemas.openxmlformats.org/drawingml/2006/main">
              <a:ext uri="{FF2B5EF4-FFF2-40B4-BE49-F238E27FC236}">
                <a16:creationId xmlns:a16="http://schemas.microsoft.com/office/drawing/2014/main" id="{FBCBBC25-E1FD-4AF6-AD9B-407FD562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24090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9A631972-AC8B-41F8-BA0B-18A7F18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81BD622-1587-46C7-A3D0-D7511CF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32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คำแนะนำ: ใช้ Mini Hub เป็นสถาปัตยกรรมหลัก แต่ไม่ซื้อรวดเดียวทุกโรงแรม</a:t>
            </a:r>
          </a:p>
        </p:txBody>
      </p:sp>
      <p:sp>
        <p:nvSpPr>
          <p:cNvPr id="3" name="why1">
            <a:extLst xmlns:a="http://schemas.openxmlformats.org/drawingml/2006/main">
              <a:ext uri="{FF2B5EF4-FFF2-40B4-BE49-F238E27FC236}">
                <a16:creationId xmlns:a16="http://schemas.microsoft.com/office/drawing/2014/main" id="{8E4932F3-522C-4138-A810-8065C3B3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hy1-accent">
            <a:extLst xmlns:a="http://schemas.openxmlformats.org/drawingml/2006/main">
              <a:ext uri="{FF2B5EF4-FFF2-40B4-BE49-F238E27FC236}">
                <a16:creationId xmlns:a16="http://schemas.microsoft.com/office/drawing/2014/main" id="{48BD8AD5-19D8-4004-8FE9-22E01E4F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hy1-title">
            <a:extLst xmlns:a="http://schemas.openxmlformats.org/drawingml/2006/main">
              <a:ext uri="{FF2B5EF4-FFF2-40B4-BE49-F238E27FC236}">
                <a16:creationId xmlns:a16="http://schemas.microsoft.com/office/drawing/2014/main" id="{2E435B9A-5700-47CD-9C77-4D54BC4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เหตุผล 1 — ใช้ของเดิมได้</a:t>
            </a:r>
          </a:p>
        </p:txBody>
      </p:sp>
      <p:sp>
        <p:nvSpPr>
          <p:cNvPr id="6" name="why1-body">
            <a:extLst xmlns:a="http://schemas.openxmlformats.org/drawingml/2006/main">
              <a:ext uri="{FF2B5EF4-FFF2-40B4-BE49-F238E27FC236}">
                <a16:creationId xmlns:a16="http://schemas.microsoft.com/office/drawing/2014/main" id="{FA878313-86CE-4731-8E8B-2C196FF1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คงกล้อง Tapo/RTSP ที่มีอยู่ ลดการทิ้งอุปกรณ์ และรองรับกล้องหลายยี่ห้อในอนาคต</a:t>
            </a:r>
          </a:p>
        </p:txBody>
      </p:sp>
      <p:sp>
        <p:nvSpPr>
          <p:cNvPr id="7" name="why2">
            <a:extLst xmlns:a="http://schemas.openxmlformats.org/drawingml/2006/main">
              <a:ext uri="{FF2B5EF4-FFF2-40B4-BE49-F238E27FC236}">
                <a16:creationId xmlns:a16="http://schemas.microsoft.com/office/drawing/2014/main" id="{7A910994-325B-47F4-899F-D4F2BD20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hy2-accent">
            <a:extLst xmlns:a="http://schemas.openxmlformats.org/drawingml/2006/main">
              <a:ext uri="{FF2B5EF4-FFF2-40B4-BE49-F238E27FC236}">
                <a16:creationId xmlns:a16="http://schemas.microsoft.com/office/drawing/2014/main" id="{7B0A50FE-671E-4AE0-9C2E-C1EF74D1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hy2-title">
            <a:extLst xmlns:a="http://schemas.openxmlformats.org/drawingml/2006/main">
              <a:ext uri="{FF2B5EF4-FFF2-40B4-BE49-F238E27FC236}">
                <a16:creationId xmlns:a16="http://schemas.microsoft.com/office/drawing/2014/main" id="{A2FCA6EB-BBA8-415F-BBBC-0CC8EBA3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240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เหตุผล 2 — ต้นทุนไม่โตต่อกล้อง</a:t>
            </a:r>
          </a:p>
        </p:txBody>
      </p:sp>
      <p:sp>
        <p:nvSpPr>
          <p:cNvPr id="10" name="why2-body">
            <a:extLst xmlns:a="http://schemas.openxmlformats.org/drawingml/2006/main">
              <a:ext uri="{FF2B5EF4-FFF2-40B4-BE49-F238E27FC236}">
                <a16:creationId xmlns:a16="http://schemas.microsoft.com/office/drawing/2014/main" id="{4ADA70B3-C1A3-4F9A-A3E0-60A4B721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Hub 1 เครื่องต่อโรงแรมรองรับหลายกล้อง ขณะที่ Cloud API มักคิดรายปีต่อกล้องและตาม traffic</a:t>
            </a:r>
          </a:p>
        </p:txBody>
      </p:sp>
      <p:sp>
        <p:nvSpPr>
          <p:cNvPr id="11" name="why3">
            <a:extLst xmlns:a="http://schemas.openxmlformats.org/drawingml/2006/main">
              <a:ext uri="{FF2B5EF4-FFF2-40B4-BE49-F238E27FC236}">
                <a16:creationId xmlns:a16="http://schemas.microsoft.com/office/drawing/2014/main" id="{F9B800AE-E444-4DD8-93CF-67D38E8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5623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hy3-accent">
            <a:extLst xmlns:a="http://schemas.openxmlformats.org/drawingml/2006/main">
              <a:ext uri="{FF2B5EF4-FFF2-40B4-BE49-F238E27FC236}">
                <a16:creationId xmlns:a16="http://schemas.microsoft.com/office/drawing/2014/main" id="{32EA2243-7ECD-40BE-8708-7A73B209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hy3-title">
            <a:extLst xmlns:a="http://schemas.openxmlformats.org/drawingml/2006/main">
              <a:ext uri="{FF2B5EF4-FFF2-40B4-BE49-F238E27FC236}">
                <a16:creationId xmlns:a16="http://schemas.microsoft.com/office/drawing/2014/main" id="{8F353B35-34C2-4734-A72C-5D7E5D03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240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เหตุผล 3 — Privacy ดีกว่า</a:t>
            </a:r>
          </a:p>
        </p:txBody>
      </p:sp>
      <p:sp>
        <p:nvSpPr>
          <p:cNvPr id="14" name="why3-body">
            <a:extLst xmlns:a="http://schemas.openxmlformats.org/drawingml/2006/main">
              <a:ext uri="{FF2B5EF4-FFF2-40B4-BE49-F238E27FC236}">
                <a16:creationId xmlns:a16="http://schemas.microsoft.com/office/drawing/2014/main" id="{59117A49-A1CB-47B2-B359-43B3AC09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312420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ลดการส่งวิดีโอผ่าน cloud ของ vendor และไม่ต้องเปิด port กล้องสู่ public internet</a:t>
            </a:r>
          </a:p>
        </p:txBody>
      </p:sp>
      <p:sp>
        <p:nvSpPr>
          <p:cNvPr id="15" name="rec">
            <a:extLst xmlns:a="http://schemas.openxmlformats.org/drawingml/2006/main">
              <a:ext uri="{FF2B5EF4-FFF2-40B4-BE49-F238E27FC236}">
                <a16:creationId xmlns:a16="http://schemas.microsoft.com/office/drawing/2014/main" id="{2FD68111-0C0C-459F-8466-7762BFAE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6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วิธีเดินที่ปลอดภัย: Pilot Mini Hub กับ 1–3 โรงแรม → วัด bitrate/P2P success → ค่อย rollout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98745EBA-F942-4096-B827-546FEB95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ข้อเสนอเชิงสถาปัตยกรรมจากเอกสาร + การตรวจ implementation ปัจจุบัน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8444BEC6-BCA1-44A6-BCC4-0C8D41DD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6874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FA5DD7B4-FDC8-4AC7-BA47-FB38E42A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37C55E-B0EF-4F9A-95B8-0BC42A37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ตัวอย่าง 3 กล้อง/โรงแรม: Mini Hub เพิ่มเงินลงทุน แต่คืนทุนยังสั้น</a:t>
            </a:r>
          </a:p>
        </p:txBody>
      </p:sp>
      <p:sp>
        <p:nvSpPr>
          <p:cNvPr id="3" name="ua">
            <a:extLst xmlns:a="http://schemas.openxmlformats.org/drawingml/2006/main">
              <a:ext uri="{FF2B5EF4-FFF2-40B4-BE49-F238E27FC236}">
                <a16:creationId xmlns:a16="http://schemas.microsoft.com/office/drawing/2014/main" id="{05C45527-C134-4D90-9A27-7CE88694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5623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ua-accent">
            <a:extLst xmlns:a="http://schemas.openxmlformats.org/drawingml/2006/main">
              <a:ext uri="{FF2B5EF4-FFF2-40B4-BE49-F238E27FC236}">
                <a16:creationId xmlns:a16="http://schemas.microsoft.com/office/drawing/2014/main" id="{58A12060-2F08-4EB1-8E79-E79C2E8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a-title">
            <a:extLst xmlns:a="http://schemas.openxmlformats.org/drawingml/2006/main">
              <a:ext uri="{FF2B5EF4-FFF2-40B4-BE49-F238E27FC236}">
                <a16:creationId xmlns:a16="http://schemas.microsoft.com/office/drawing/2014/main" id="{4C15D226-EF0B-450A-94F3-C96A285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A • โปรโมชั่นกล้อง</a:t>
            </a:r>
          </a:p>
        </p:txBody>
      </p:sp>
      <p:sp>
        <p:nvSpPr>
          <p:cNvPr id="6" name="ua-stat">
            <a:extLst xmlns:a="http://schemas.openxmlformats.org/drawingml/2006/main">
              <a:ext uri="{FF2B5EF4-FFF2-40B4-BE49-F238E27FC236}">
                <a16:creationId xmlns:a16="http://schemas.microsoft.com/office/drawing/2014/main" id="{46C02B47-19AA-4100-A7DD-924F1A05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1,360 บาท</a:t>
            </a:r>
          </a:p>
        </p:txBody>
      </p:sp>
      <p:sp>
        <p:nvSpPr>
          <p:cNvPr id="7" name="ua-body">
            <a:extLst xmlns:a="http://schemas.openxmlformats.org/drawingml/2006/main">
              <a:ext uri="{FF2B5EF4-FFF2-40B4-BE49-F238E27FC236}">
                <a16:creationId xmlns:a16="http://schemas.microsoft.com/office/drawing/2014/main" id="{4FCCD1FF-EF78-43BE-8ACC-78B8CEA2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3124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กล้องแรกฟรีให้โรงแรม + อุดหนุนส่วนลด 30% สำหรับอีก 2 ตัว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ต้นทุนแพลตฟอร์ม = 850 + (2 × 255)</a:t>
            </a:r>
          </a:p>
        </p:txBody>
      </p:sp>
      <p:sp>
        <p:nvSpPr>
          <p:cNvPr id="8" name="ub">
            <a:extLst xmlns:a="http://schemas.openxmlformats.org/drawingml/2006/main">
              <a:ext uri="{FF2B5EF4-FFF2-40B4-BE49-F238E27FC236}">
                <a16:creationId xmlns:a16="http://schemas.microsoft.com/office/drawing/2014/main" id="{3AC288D3-E826-4A4C-B0F7-93C1EA0D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95450"/>
            <a:ext cx="35623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ub-accent">
            <a:extLst xmlns:a="http://schemas.openxmlformats.org/drawingml/2006/main">
              <a:ext uri="{FF2B5EF4-FFF2-40B4-BE49-F238E27FC236}">
                <a16:creationId xmlns:a16="http://schemas.microsoft.com/office/drawing/2014/main" id="{3C1DA09E-07C3-406C-9067-312420D3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954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3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b-title">
            <a:extLst xmlns:a="http://schemas.openxmlformats.org/drawingml/2006/main">
              <a:ext uri="{FF2B5EF4-FFF2-40B4-BE49-F238E27FC236}">
                <a16:creationId xmlns:a16="http://schemas.microsoft.com/office/drawing/2014/main" id="{4157FA1F-2759-4AE1-B2EC-5E3B9E56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050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B • กล้อง + Mini Hub</a:t>
            </a:r>
          </a:p>
        </p:txBody>
      </p:sp>
      <p:sp>
        <p:nvSpPr>
          <p:cNvPr id="11" name="ub-stat">
            <a:extLst xmlns:a="http://schemas.openxmlformats.org/drawingml/2006/main">
              <a:ext uri="{FF2B5EF4-FFF2-40B4-BE49-F238E27FC236}">
                <a16:creationId xmlns:a16="http://schemas.microsoft.com/office/drawing/2014/main" id="{BFF0D37D-7B8D-4A33-8182-DCE94944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241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E7A33E"/>
                </a:solidFill>
                <a:latin typeface="Noto Sans Thai"/>
                <a:ea typeface="Noto Sans Thai"/>
                <a:cs typeface="Noto Sans Thai"/>
              </a:rPr>
              <a:t>3,360 บาท</a:t>
            </a:r>
          </a:p>
        </p:txBody>
      </p:sp>
      <p:sp>
        <p:nvSpPr>
          <p:cNvPr id="12" name="ub-body">
            <a:extLst xmlns:a="http://schemas.openxmlformats.org/drawingml/2006/main">
              <a:ext uri="{FF2B5EF4-FFF2-40B4-BE49-F238E27FC236}">
                <a16:creationId xmlns:a16="http://schemas.microsoft.com/office/drawing/2014/main" id="{8ED28835-9F77-47BE-A2FF-B4ACE10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05150"/>
            <a:ext cx="3124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ลงทุนแบบ A แล้วเพิ่ม Mini Hub สมมติ 2,000 บาทต่อโรงแรม</a:t>
            </a:r>
          </a:p>
        </p:txBody>
      </p:sp>
      <p:sp>
        <p:nvSpPr>
          <p:cNvPr id="13" name="rev">
            <a:extLst xmlns:a="http://schemas.openxmlformats.org/drawingml/2006/main">
              <a:ext uri="{FF2B5EF4-FFF2-40B4-BE49-F238E27FC236}">
                <a16:creationId xmlns:a16="http://schemas.microsoft.com/office/drawing/2014/main" id="{611A61A3-4BE1-4D2A-B2FE-A15A3079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35623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v-accent">
            <a:extLst xmlns:a="http://schemas.openxmlformats.org/drawingml/2006/main">
              <a:ext uri="{FF2B5EF4-FFF2-40B4-BE49-F238E27FC236}">
                <a16:creationId xmlns:a16="http://schemas.microsoft.com/office/drawing/2014/main" id="{D5984C46-A2CF-4889-8E51-2AF1762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954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3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v-title">
            <a:extLst xmlns:a="http://schemas.openxmlformats.org/drawingml/2006/main">
              <a:ext uri="{FF2B5EF4-FFF2-40B4-BE49-F238E27FC236}">
                <a16:creationId xmlns:a16="http://schemas.microsoft.com/office/drawing/2014/main" id="{77A87165-808A-4BFF-A211-D78001C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รายได้สมมติ/เดือน</a:t>
            </a:r>
          </a:p>
        </p:txBody>
      </p:sp>
      <p:sp>
        <p:nvSpPr>
          <p:cNvPr id="16" name="rev-stat">
            <a:extLst xmlns:a="http://schemas.openxmlformats.org/drawingml/2006/main">
              <a:ext uri="{FF2B5EF4-FFF2-40B4-BE49-F238E27FC236}">
                <a16:creationId xmlns:a16="http://schemas.microsoft.com/office/drawing/2014/main" id="{C588A857-A364-4C7F-B7EB-23488DEC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124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2625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828 บาท/เดือน</a:t>
            </a:r>
          </a:p>
        </p:txBody>
      </p:sp>
      <p:sp>
        <p:nvSpPr>
          <p:cNvPr id="17" name="rev-body">
            <a:extLst xmlns:a="http://schemas.openxmlformats.org/drawingml/2006/main">
              <a:ext uri="{FF2B5EF4-FFF2-40B4-BE49-F238E27FC236}">
                <a16:creationId xmlns:a16="http://schemas.microsoft.com/office/drawing/2014/main" id="{0EF0C1AF-6FB0-45BA-A795-160F36AA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05150"/>
            <a:ext cx="31242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Package 249 + ช่าง 129 + GP attributable 450</a:t>
            </a:r>
          </a:p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(ยอดจอง 15,000 × GP 30% × attribution 10%)</a:t>
            </a:r>
          </a:p>
        </p:txBody>
      </p:sp>
      <p:sp>
        <p:nvSpPr>
          <p:cNvPr id="18" name="be">
            <a:extLst xmlns:a="http://schemas.openxmlformats.org/drawingml/2006/main">
              <a:ext uri="{FF2B5EF4-FFF2-40B4-BE49-F238E27FC236}">
                <a16:creationId xmlns:a16="http://schemas.microsoft.com/office/drawing/2014/main" id="{63B38BC9-A4F2-4DBD-ADD1-F5D5352F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จุดคุ้มทุนประมาณ: A = 1.6 เดือน • B = 4.1 เดือน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BEB9BF29-4DCF-45A4-B30E-69573B1D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แก้ความคลาดเคลื่อนใน calculator เดิม: ส่วนลด 30% หมายถึง platform subsidize 30%, ไม่ใช่ 70%</a:t>
            </a:r>
          </a:p>
        </p:txBody>
      </p:sp>
      <p:sp>
        <p:nvSpPr>
          <p:cNvPr id="20" name="page">
            <a:extLst xmlns:a="http://schemas.openxmlformats.org/drawingml/2006/main">
              <a:ext uri="{FF2B5EF4-FFF2-40B4-BE49-F238E27FC236}">
                <a16:creationId xmlns:a16="http://schemas.microsoft.com/office/drawing/2014/main" id="{B996C4D3-3457-433C-99C7-AF9FC5C6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558236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D76B995-1AA1-4369-AA88-34994C85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EC6DEC-68BA-4774-8881-BA2E689A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แผน 90 วัน: พิสูจน์ธุรกรรมและกล้อง ก่อนขยาย</a:t>
            </a:r>
          </a:p>
        </p:txBody>
      </p:sp>
      <p:sp>
        <p:nvSpPr>
          <p:cNvPr id="3" name="phase-0">
            <a:extLst xmlns:a="http://schemas.openxmlformats.org/drawingml/2006/main">
              <a:ext uri="{FF2B5EF4-FFF2-40B4-BE49-F238E27FC236}">
                <a16:creationId xmlns:a16="http://schemas.microsoft.com/office/drawing/2014/main" id="{7F896ACE-E2E8-4347-9BBD-BE696272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ate-0">
            <a:extLst xmlns:a="http://schemas.openxmlformats.org/drawingml/2006/main">
              <a:ext uri="{FF2B5EF4-FFF2-40B4-BE49-F238E27FC236}">
                <a16:creationId xmlns:a16="http://schemas.microsoft.com/office/drawing/2014/main" id="{59A43CE1-2FA3-461B-8ABB-49D8C858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0–30 วัน</a:t>
            </a:r>
          </a:p>
        </p:txBody>
      </p:sp>
      <p:sp>
        <p:nvSpPr>
          <p:cNvPr id="5" name="pt-0">
            <a:extLst xmlns:a="http://schemas.openxmlformats.org/drawingml/2006/main">
              <a:ext uri="{FF2B5EF4-FFF2-40B4-BE49-F238E27FC236}">
                <a16:creationId xmlns:a16="http://schemas.microsoft.com/office/drawing/2014/main" id="{D80ECE83-E1C2-434E-93B5-26AC3982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Payment hardening</a:t>
            </a:r>
          </a:p>
        </p:txBody>
      </p:sp>
      <p:sp>
        <p:nvSpPr>
          <p:cNvPr id="6" name="pb-0">
            <a:extLst xmlns:a="http://schemas.openxmlformats.org/drawingml/2006/main">
              <a:ext uri="{FF2B5EF4-FFF2-40B4-BE49-F238E27FC236}">
                <a16:creationId xmlns:a16="http://schemas.microsoft.com/office/drawing/2014/main" id="{05AF82C7-6687-41F4-9E70-679C1D83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เพิ่ม idempotency, reconciliation, alert, refund rule และทดลอง settlement จริงยอดต่ำ</a:t>
            </a:r>
          </a:p>
        </p:txBody>
      </p:sp>
      <p:sp>
        <p:nvSpPr>
          <p:cNvPr id="7" name="pa-0">
            <a:extLst xmlns:a="http://schemas.openxmlformats.org/drawingml/2006/main">
              <a:ext uri="{FF2B5EF4-FFF2-40B4-BE49-F238E27FC236}">
                <a16:creationId xmlns:a16="http://schemas.microsoft.com/office/drawing/2014/main" id="{28D5B97F-B47C-4FB4-9387-DF07B1E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3850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7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8" name="phase-1">
            <a:extLst xmlns:a="http://schemas.openxmlformats.org/drawingml/2006/main">
              <a:ext uri="{FF2B5EF4-FFF2-40B4-BE49-F238E27FC236}">
                <a16:creationId xmlns:a16="http://schemas.microsoft.com/office/drawing/2014/main" id="{372DE826-0D39-488D-A9A8-3D259DE6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e-1">
            <a:extLst xmlns:a="http://schemas.openxmlformats.org/drawingml/2006/main">
              <a:ext uri="{FF2B5EF4-FFF2-40B4-BE49-F238E27FC236}">
                <a16:creationId xmlns:a16="http://schemas.microsoft.com/office/drawing/2014/main" id="{6C6B0AE9-E1F8-454C-BCFD-2AECA8A5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90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31–60 วัน</a:t>
            </a:r>
          </a:p>
        </p:txBody>
      </p:sp>
      <p:sp>
        <p:nvSpPr>
          <p:cNvPr id="10" name="pt-1">
            <a:extLst xmlns:a="http://schemas.openxmlformats.org/drawingml/2006/main">
              <a:ext uri="{FF2B5EF4-FFF2-40B4-BE49-F238E27FC236}">
                <a16:creationId xmlns:a16="http://schemas.microsoft.com/office/drawing/2014/main" id="{0CDC117F-A609-490C-94E9-6DD8E926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241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Mini Hub pilot</a:t>
            </a:r>
          </a:p>
        </p:txBody>
      </p:sp>
      <p:sp>
        <p:nvSpPr>
          <p:cNvPr id="11" name="pb-1">
            <a:extLst xmlns:a="http://schemas.openxmlformats.org/drawingml/2006/main">
              <a:ext uri="{FF2B5EF4-FFF2-40B4-BE49-F238E27FC236}">
                <a16:creationId xmlns:a16="http://schemas.microsoft.com/office/drawing/2014/main" id="{3ABC0B82-12AE-4783-BBA6-36B0E99F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814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ติดตั้ง 1–3 โรงแรม วัด bitrate, uptime, P2P success, TURN fallback และเวลาหน้างาน</a:t>
            </a:r>
          </a:p>
        </p:txBody>
      </p:sp>
      <p:sp>
        <p:nvSpPr>
          <p:cNvPr id="12" name="pa-1">
            <a:extLst xmlns:a="http://schemas.openxmlformats.org/drawingml/2006/main">
              <a:ext uri="{FF2B5EF4-FFF2-40B4-BE49-F238E27FC236}">
                <a16:creationId xmlns:a16="http://schemas.microsoft.com/office/drawing/2014/main" id="{BDEDF9A3-5F02-48D6-A51C-D20C0E2C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38500"/>
            <a:ext cx="3524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37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210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→</a:t>
            </a:r>
          </a:p>
        </p:txBody>
      </p:sp>
      <p:sp>
        <p:nvSpPr>
          <p:cNvPr id="13" name="phase-2">
            <a:extLst xmlns:a="http://schemas.openxmlformats.org/drawingml/2006/main">
              <a:ext uri="{FF2B5EF4-FFF2-40B4-BE49-F238E27FC236}">
                <a16:creationId xmlns:a16="http://schemas.microsoft.com/office/drawing/2014/main" id="{8E04D650-A7AD-4C1C-8D2F-45D125F0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623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ate-2">
            <a:extLst xmlns:a="http://schemas.openxmlformats.org/drawingml/2006/main">
              <a:ext uri="{FF2B5EF4-FFF2-40B4-BE49-F238E27FC236}">
                <a16:creationId xmlns:a16="http://schemas.microsoft.com/office/drawing/2014/main" id="{1A7BB892-4873-46A9-B2A0-AE319789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3105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350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61–90 วัน</a:t>
            </a:r>
          </a:p>
        </p:txBody>
      </p:sp>
      <p:sp>
        <p:nvSpPr>
          <p:cNvPr id="15" name="pt-2">
            <a:extLst xmlns:a="http://schemas.openxmlformats.org/drawingml/2006/main">
              <a:ext uri="{FF2B5EF4-FFF2-40B4-BE49-F238E27FC236}">
                <a16:creationId xmlns:a16="http://schemas.microsoft.com/office/drawing/2014/main" id="{106D703D-24D9-4113-AC97-E10AFEC6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Commercial rollout</a:t>
            </a:r>
          </a:p>
        </p:txBody>
      </p:sp>
      <p:sp>
        <p:nvSpPr>
          <p:cNvPr id="16" name="pb-2">
            <a:extLst xmlns:a="http://schemas.openxmlformats.org/drawingml/2006/main">
              <a:ext uri="{FF2B5EF4-FFF2-40B4-BE49-F238E27FC236}">
                <a16:creationId xmlns:a16="http://schemas.microsoft.com/office/drawing/2014/main" id="{1B0334E7-A41E-4553-877E-C53F74B0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31051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ล็อกราคา package/ช่าง, SOP ติดตั้ง, privacy notice, support SLA และเกณฑ์ซื้อเพิ่ม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79E51313-E445-4EE5-9C9D-B0CC4906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เกณฑ์ผ่าน pilot ควรกำหนดเป็นตัวเลขก่อนเริ่ม เช่น uptime, latency, fallback rate และจำนวน ticket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CAEEA431-E63C-4D24-9DAD-D535777E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089651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2F4DB697-0D7E-43C0-9CE5-A70FE352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E39A14C-DDA8-4BE9-BE79-6D10752A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สิ่งที่ต้องอนุมัติ เพื่อให้ทีมเดินต่อได้โดยไม่เกิดงบบาน</a:t>
            </a:r>
          </a:p>
        </p:txBody>
      </p:sp>
      <p:sp>
        <p:nvSpPr>
          <p:cNvPr id="3" name="decision-0">
            <a:extLst xmlns:a="http://schemas.openxmlformats.org/drawingml/2006/main">
              <a:ext uri="{FF2B5EF4-FFF2-40B4-BE49-F238E27FC236}">
                <a16:creationId xmlns:a16="http://schemas.microsoft.com/office/drawing/2014/main" id="{BA198A23-FCA7-4DD4-BA7D-F9D8E873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heck-0">
            <a:extLst xmlns:a="http://schemas.openxmlformats.org/drawingml/2006/main">
              <a:ext uri="{FF2B5EF4-FFF2-40B4-BE49-F238E27FC236}">
                <a16:creationId xmlns:a16="http://schemas.microsoft.com/office/drawing/2014/main" id="{76F82479-D6E4-438F-AF0E-D8C8F04A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5" name="decision-t-0">
            <a:extLst xmlns:a="http://schemas.openxmlformats.org/drawingml/2006/main">
              <a:ext uri="{FF2B5EF4-FFF2-40B4-BE49-F238E27FC236}">
                <a16:creationId xmlns:a16="http://schemas.microsoft.com/office/drawing/2014/main" id="{92501158-B564-4581-BFFB-31B2D987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022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อนุมัติ Omise แบบ absorb fee และตั้ง PromptPay เป็นค่าเริ่มต้น</a:t>
            </a:r>
          </a:p>
        </p:txBody>
      </p:sp>
      <p:sp>
        <p:nvSpPr>
          <p:cNvPr id="6" name="decision-1">
            <a:extLst xmlns:a="http://schemas.openxmlformats.org/drawingml/2006/main">
              <a:ext uri="{FF2B5EF4-FFF2-40B4-BE49-F238E27FC236}">
                <a16:creationId xmlns:a16="http://schemas.microsoft.com/office/drawing/2014/main" id="{E97AB173-A8A5-4C7A-94FB-9E248D80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1C6E2FEC-7AFD-42CD-B246-D8716066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8" name="decision-t-1">
            <a:extLst xmlns:a="http://schemas.openxmlformats.org/drawingml/2006/main">
              <a:ext uri="{FF2B5EF4-FFF2-40B4-BE49-F238E27FC236}">
                <a16:creationId xmlns:a16="http://schemas.microsoft.com/office/drawing/2014/main" id="{33E76408-9F7A-4AEA-82D7-E1948F4EE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022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อนุมัติงบ payment hardening + accounting workflow ก่อน live</a:t>
            </a:r>
          </a:p>
        </p:txBody>
      </p:sp>
      <p:sp>
        <p:nvSpPr>
          <p:cNvPr id="9" name="decision-2">
            <a:extLst xmlns:a="http://schemas.openxmlformats.org/drawingml/2006/main">
              <a:ext uri="{FF2B5EF4-FFF2-40B4-BE49-F238E27FC236}">
                <a16:creationId xmlns:a16="http://schemas.microsoft.com/office/drawing/2014/main" id="{C18D5241-AC43-4F11-A2C4-6B921D20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CB873F0B-2B94-4A4F-82AC-DA7496ED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28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1" name="decision-t-2">
            <a:extLst xmlns:a="http://schemas.openxmlformats.org/drawingml/2006/main">
              <a:ext uri="{FF2B5EF4-FFF2-40B4-BE49-F238E27FC236}">
                <a16:creationId xmlns:a16="http://schemas.microsoft.com/office/drawing/2014/main" id="{396369DA-6E88-4C7C-BC35-00CD9A56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6707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อนุมัติ Mini Hub pilot 1–3 โรงแรม งบอุปกรณ์ 1,500–3,000 บาท/แห่ง</a:t>
            </a:r>
          </a:p>
        </p:txBody>
      </p:sp>
      <p:sp>
        <p:nvSpPr>
          <p:cNvPr id="12" name="decision-3">
            <a:extLst xmlns:a="http://schemas.openxmlformats.org/drawingml/2006/main">
              <a:ext uri="{FF2B5EF4-FFF2-40B4-BE49-F238E27FC236}">
                <a16:creationId xmlns:a16="http://schemas.microsoft.com/office/drawing/2014/main" id="{0448FAB5-D8C6-4B55-8538-CFCF3C7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9E241AFF-B166-4B08-9344-C58BA8AF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4" name="decision-t-3">
            <a:extLst xmlns:a="http://schemas.openxmlformats.org/drawingml/2006/main">
              <a:ext uri="{FF2B5EF4-FFF2-40B4-BE49-F238E27FC236}">
                <a16:creationId xmlns:a16="http://schemas.microsoft.com/office/drawing/2014/main" id="{D5D9D11C-D206-4CCF-8037-5A1599A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6707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กำหนด Package 199–299 และช่าง 100–150 บาท/เดือน/โรงแรม</a:t>
            </a:r>
          </a:p>
        </p:txBody>
      </p:sp>
      <p:sp>
        <p:nvSpPr>
          <p:cNvPr id="15" name="decision-4">
            <a:extLst xmlns:a="http://schemas.openxmlformats.org/drawingml/2006/main">
              <a:ext uri="{FF2B5EF4-FFF2-40B4-BE49-F238E27FC236}">
                <a16:creationId xmlns:a16="http://schemas.microsoft.com/office/drawing/2014/main" id="{66514387-65B4-4865-9074-8B398108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52ECD61A-5B5A-4FF8-A104-8B0488A0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17" name="decision-t-4">
            <a:extLst xmlns:a="http://schemas.openxmlformats.org/drawingml/2006/main">
              <a:ext uri="{FF2B5EF4-FFF2-40B4-BE49-F238E27FC236}">
                <a16:creationId xmlns:a16="http://schemas.microsoft.com/office/drawing/2014/main" id="{3E686127-FAC6-472E-9782-E69E37C7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ขอใบเสนอราคา VPS, กล้อง, Hub และ Cloud-camera API เพื่อแทนตัวเลขประมาณการ</a:t>
            </a:r>
          </a:p>
        </p:txBody>
      </p:sp>
      <p:sp>
        <p:nvSpPr>
          <p:cNvPr id="18" name="decision-5">
            <a:extLst xmlns:a="http://schemas.openxmlformats.org/drawingml/2006/main">
              <a:ext uri="{FF2B5EF4-FFF2-40B4-BE49-F238E27FC236}">
                <a16:creationId xmlns:a16="http://schemas.microsoft.com/office/drawing/2014/main" id="{6177AF0A-5736-49D1-B446-73110C54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5429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eck-5">
            <a:extLst xmlns:a="http://schemas.openxmlformats.org/drawingml/2006/main">
              <a:ext uri="{FF2B5EF4-FFF2-40B4-BE49-F238E27FC236}">
                <a16:creationId xmlns:a16="http://schemas.microsoft.com/office/drawing/2014/main" id="{7A58E300-78C7-40C3-A6BB-4D430727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defRPr>
            </a:pPr>
            <a:r>
              <a:rPr sz="1950" b="1">
                <a:solidFill>
                  <a:srgbClr val="27A36A"/>
                </a:solidFill>
                <a:latin typeface="Noto Sans Thai"/>
                <a:ea typeface="Noto Sans Thai"/>
                <a:cs typeface="Noto Sans Thai"/>
              </a:rPr>
              <a:t>✓</a:t>
            </a:r>
          </a:p>
        </p:txBody>
      </p:sp>
      <p:sp>
        <p:nvSpPr>
          <p:cNvPr id="20" name="decision-t-5">
            <a:extLst xmlns:a="http://schemas.openxmlformats.org/drawingml/2006/main">
              <a:ext uri="{FF2B5EF4-FFF2-40B4-BE49-F238E27FC236}">
                <a16:creationId xmlns:a16="http://schemas.microsoft.com/office/drawing/2014/main" id="{873E0D9F-204F-4DA8-8CCC-36A68F2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33925"/>
            <a:ext cx="4267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กำหนดผู้รับผิดชอบ maintenance และ SLA หลังส่งมอบ</a:t>
            </a:r>
          </a:p>
        </p:txBody>
      </p:sp>
      <p:sp>
        <p:nvSpPr>
          <p:cNvPr id="21" name="source">
            <a:extLst xmlns:a="http://schemas.openxmlformats.org/drawingml/2006/main">
              <a:ext uri="{FF2B5EF4-FFF2-40B4-BE49-F238E27FC236}">
                <a16:creationId xmlns:a16="http://schemas.microsoft.com/office/drawing/2014/main" id="{5EC75360-C694-4D8C-B3A8-3424F59A1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page">
            <a:extLst xmlns:a="http://schemas.openxmlformats.org/drawingml/2006/main">
              <a:ext uri="{FF2B5EF4-FFF2-40B4-BE49-F238E27FC236}">
                <a16:creationId xmlns:a16="http://schemas.microsoft.com/office/drawing/2014/main" id="{E9D4258E-C3BF-42FB-BAD8-34B89730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14295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1E5C47D7-6CFF-46E5-BA51-0D05441E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75" b="1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PETPAL • BUSINESS UPDATE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6AE8F02-934C-4041-8437-F73FEC2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2850" b="1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แหล่งข้อมูลและข้อจำกัดของตัวเลข</a:t>
            </a:r>
          </a:p>
        </p:txBody>
      </p:sp>
      <p:sp>
        <p:nvSpPr>
          <p:cNvPr id="3" name="bullet-0">
            <a:extLst xmlns:a="http://schemas.openxmlformats.org/drawingml/2006/main">
              <a:ext uri="{FF2B5EF4-FFF2-40B4-BE49-F238E27FC236}">
                <a16:creationId xmlns:a16="http://schemas.microsoft.com/office/drawing/2014/main" id="{5A913D91-9722-4199-B0D6-B365FDB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4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5E1B1101-52B5-4DA6-993E-2A1E9BE1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เอกสารภายใน: docs/business/PetPal_Cost_Report.pdf และ PetPal_Tech_Handoff.pdf (อัปเดต 22 ก.ค. 2026)</a:t>
            </a:r>
          </a:p>
        </p:txBody>
      </p:sp>
      <p:sp>
        <p:nvSpPr>
          <p:cNvPr id="5" name="bullet-1">
            <a:extLst xmlns:a="http://schemas.openxmlformats.org/drawingml/2006/main">
              <a:ext uri="{FF2B5EF4-FFF2-40B4-BE49-F238E27FC236}">
                <a16:creationId xmlns:a16="http://schemas.microsoft.com/office/drawing/2014/main" id="{6C6FB63D-671D-47E4-B023-8749035E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6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16A704F2-5603-4FD0-AAD0-E81ABAA7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โค้ด: backend/app/api/payments.py, services/omise_client.py, api/cameras.py, core/config.py และ docker-compose.prod.yml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BD99226D-A29D-455A-BCC0-E1369664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8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64479CC6-7262-475A-84B6-15E8219A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Omise Thailand Pricing: https://www.omise.co/en/pricing/thailand และ Omise Docs: https://docs.omise.co/th/how-much-does-omise-cost/thailand</a:t>
            </a:r>
          </a:p>
        </p:txBody>
      </p:sp>
      <p:sp>
        <p:nvSpPr>
          <p:cNvPr id="9" name="bullet-3">
            <a:extLst xmlns:a="http://schemas.openxmlformats.org/drawingml/2006/main">
              <a:ext uri="{FF2B5EF4-FFF2-40B4-BE49-F238E27FC236}">
                <a16:creationId xmlns:a16="http://schemas.microsoft.com/office/drawing/2014/main" id="{B8D75C46-1A12-482B-BB73-8A5CA7E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10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B2136651-AC91-40B6-B639-9592DC24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Apple Developer Program: 99 USD/ปี — https://developer.apple.com/support/compare-memberships/</a:t>
            </a:r>
          </a:p>
        </p:txBody>
      </p:sp>
      <p:sp>
        <p:nvSpPr>
          <p:cNvPr id="11" name="bullet-4">
            <a:extLst xmlns:a="http://schemas.openxmlformats.org/drawingml/2006/main">
              <a:ext uri="{FF2B5EF4-FFF2-40B4-BE49-F238E27FC236}">
                <a16:creationId xmlns:a16="http://schemas.microsoft.com/office/drawing/2014/main" id="{F50226AE-6AC8-4512-90EF-5A6A8264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12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CCFAE905-A392-4048-B038-4850340D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Google Play Console: 25 USD ครั้งเดียว — https://support.google.com/googleplay/android-developer/answer/6112435</a:t>
            </a:r>
          </a:p>
        </p:txBody>
      </p:sp>
      <p:sp>
        <p:nvSpPr>
          <p:cNvPr id="13" name="bullet-5">
            <a:extLst xmlns:a="http://schemas.openxmlformats.org/drawingml/2006/main">
              <a:ext uri="{FF2B5EF4-FFF2-40B4-BE49-F238E27FC236}">
                <a16:creationId xmlns:a16="http://schemas.microsoft.com/office/drawing/2014/main" id="{6A2E8B3D-DEA8-46B0-99B6-3531809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4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1">
                <a:solidFill>
                  <a:srgbClr val="3D8DFF"/>
                </a:solidFill>
                <a:latin typeface="Noto Sans Thai"/>
                <a:ea typeface="Noto Sans Thai"/>
                <a:cs typeface="Noto Sans Thai"/>
              </a:rPr>
              <a:t>•</a:t>
            </a:r>
          </a:p>
        </p:txBody>
      </p:sp>
      <p:sp>
        <p:nvSpPr>
          <p:cNvPr id="14" name="bullet-text-5">
            <a:extLst xmlns:a="http://schemas.openxmlformats.org/drawingml/2006/main">
              <a:ext uri="{FF2B5EF4-FFF2-40B4-BE49-F238E27FC236}">
                <a16:creationId xmlns:a16="http://schemas.microsoft.com/office/drawing/2014/main" id="{CC0B298B-DB2E-4DB6-95DB-8B30FAA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110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75" b="0">
                <a:solidFill>
                  <a:srgbClr val="111111"/>
                </a:solidFill>
                <a:latin typeface="Noto Sans Thai"/>
                <a:ea typeface="Noto Sans Thai"/>
                <a:cs typeface="Noto Sans Thai"/>
              </a:rPr>
              <a:t>ตัวเลข VPS, กล้อง, Mini Hub, Cloud camera quota, bitrate และ conversion เป็นประมาณการ ต้องยืนยันด้วยใบเสนอราคาและ pilot</a:t>
            </a:r>
          </a:p>
        </p:txBody>
      </p:sp>
      <p:sp>
        <p:nvSpPr>
          <p:cNvPr id="15" name="warning">
            <a:extLst xmlns:a="http://schemas.openxmlformats.org/drawingml/2006/main">
              <a:ext uri="{FF2B5EF4-FFF2-40B4-BE49-F238E27FC236}">
                <a16:creationId xmlns:a16="http://schemas.microsoft.com/office/drawing/2014/main" id="{2D769459-6624-443C-A62C-557A2582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arning-t">
            <a:extLst xmlns:a="http://schemas.openxmlformats.org/drawingml/2006/main">
              <a:ext uri="{FF2B5EF4-FFF2-40B4-BE49-F238E27FC236}">
                <a16:creationId xmlns:a16="http://schemas.microsoft.com/office/drawing/2014/main" id="{75A5F54A-6895-4257-A1E5-FE1EE067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5A00"/>
                </a:solidFill>
                <a:latin typeface="Noto Sans Thai"/>
                <a:ea typeface="Noto Sans Thai"/>
                <a:cs typeface="Noto Sans Thai"/>
              </a:defRPr>
            </a:pPr>
            <a:r>
              <a:rPr sz="1200" b="1">
                <a:solidFill>
                  <a:srgbClr val="8A5A00"/>
                </a:solidFill>
                <a:latin typeface="Noto Sans Thai"/>
                <a:ea typeface="Noto Sans Thai"/>
                <a:cs typeface="Noto Sans Thai"/>
              </a:rPr>
              <a:t>ข้อควรระวัง: ข้อมูลราคาอาจเปลี่ยนได้ และคำแนะนำภาษี/บัญชีควรยืนยันกับนักบัญชีก่อน Production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042F95BE-7610-4DA4-BBE9-12924465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75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จัดทำ 22 ก.ค. 2026 • Asia/Bangkok</a:t>
            </a:r>
          </a:p>
        </p:txBody>
      </p:sp>
      <p:sp>
        <p:nvSpPr>
          <p:cNvPr id="18" name="page">
            <a:extLst xmlns:a="http://schemas.openxmlformats.org/drawingml/2006/main">
              <a:ext uri="{FF2B5EF4-FFF2-40B4-BE49-F238E27FC236}">
                <a16:creationId xmlns:a16="http://schemas.microsoft.com/office/drawing/2014/main" id="{AFA2D61E-72DE-40C5-911D-17898325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defRPr>
            </a:pPr>
            <a:r>
              <a:rPr sz="900" b="0">
                <a:solidFill>
                  <a:srgbClr val="5E6672"/>
                </a:solidFill>
                <a:latin typeface="Noto Sans Thai"/>
                <a:ea typeface="Noto Sans Thai"/>
                <a:cs typeface="Noto Sans Tha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532139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2026-07-22T09:28:39.4390000Z</dcterms:created>
  <dcterms:modified xsi:type="dcterms:W3CDTF">2026-07-22T09:28:39.4390000Z</dcterms:modified>
</coreProperties>
</file>