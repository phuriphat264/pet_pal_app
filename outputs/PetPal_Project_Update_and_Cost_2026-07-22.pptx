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fc672094c43cf" /><Relationship Type="http://schemas.openxmlformats.org/officeDocument/2006/relationships/extended-properties" Target="/docProps/app.xml" Id="R401624dc5f30458e" /><Relationship Type="http://schemas.openxmlformats.org/officeDocument/2006/relationships/officeDocument" Target="/ppt/presentation.xml" Id="R887c938ce6f9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fb824305c4c09"/>
  </p:sldMasterIdLst>
  <p:notesMasterIdLst>
    <p:notesMasterId xmlns:r="http://schemas.openxmlformats.org/officeDocument/2006/relationships" r:id="R3999c5632e774050"/>
  </p:notesMasterIdLst>
  <p:sldIdLst>
    <p:sldId xmlns:r="http://schemas.openxmlformats.org/officeDocument/2006/relationships" id="256" r:id="R874ebf05f6cb454a"/>
    <p:sldId xmlns:r="http://schemas.openxmlformats.org/officeDocument/2006/relationships" id="257" r:id="Re990d5af66f442ea"/>
    <p:sldId xmlns:r="http://schemas.openxmlformats.org/officeDocument/2006/relationships" id="258" r:id="R040627b1f3794749"/>
    <p:sldId xmlns:r="http://schemas.openxmlformats.org/officeDocument/2006/relationships" id="259" r:id="Rd06a8d151b4e4e3f"/>
    <p:sldId xmlns:r="http://schemas.openxmlformats.org/officeDocument/2006/relationships" id="260" r:id="Rbd17df2e215e4b5a"/>
    <p:sldId xmlns:r="http://schemas.openxmlformats.org/officeDocument/2006/relationships" id="261" r:id="R6306bf24421c49e1"/>
    <p:sldId xmlns:r="http://schemas.openxmlformats.org/officeDocument/2006/relationships" id="262" r:id="R9bb53144ea344ac9"/>
    <p:sldId xmlns:r="http://schemas.openxmlformats.org/officeDocument/2006/relationships" id="263" r:id="Rd957eca3207b464d"/>
    <p:sldId xmlns:r="http://schemas.openxmlformats.org/officeDocument/2006/relationships" id="264" r:id="R4bedf041e087490c"/>
    <p:sldId xmlns:r="http://schemas.openxmlformats.org/officeDocument/2006/relationships" id="265" r:id="R55264904b8f94da2"/>
    <p:sldId xmlns:r="http://schemas.openxmlformats.org/officeDocument/2006/relationships" id="266" r:id="R3b72e6eebcf64b40"/>
    <p:sldId xmlns:r="http://schemas.openxmlformats.org/officeDocument/2006/relationships" id="267" r:id="R07a9157a1270440b"/>
    <p:sldId xmlns:r="http://schemas.openxmlformats.org/officeDocument/2006/relationships" id="268" r:id="R4cb9139e6fe64068"/>
    <p:sldId xmlns:r="http://schemas.openxmlformats.org/officeDocument/2006/relationships" id="269" r:id="R0d6e578708564a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3e6e944fc4428b" /><Relationship Type="http://schemas.openxmlformats.org/officeDocument/2006/relationships/slideMaster" Target="/ppt/slideMasters/slideMaster1.xml" Id="Rd52fb824305c4c09" /><Relationship Type="http://schemas.openxmlformats.org/officeDocument/2006/relationships/notesMaster" Target="/ppt/notesMasters/notesMaster1.xml" Id="R3999c5632e774050" /><Relationship Type="http://schemas.openxmlformats.org/officeDocument/2006/relationships/presProps" Target="/ppt/presProps.xml" Id="R15291735dc3043c9" /><Relationship Type="http://schemas.openxmlformats.org/officeDocument/2006/relationships/tableStyles" Target="/ppt/tableStyles.xml" Id="R510aa155737c49eb" /><Relationship Type="http://schemas.openxmlformats.org/officeDocument/2006/relationships/slide" Target="/ppt/slides/slide1.xml" Id="R874ebf05f6cb454a" /><Relationship Type="http://schemas.openxmlformats.org/officeDocument/2006/relationships/slide" Target="/ppt/slides/slide2.xml" Id="Re990d5af66f442ea" /><Relationship Type="http://schemas.openxmlformats.org/officeDocument/2006/relationships/slide" Target="/ppt/slides/slide3.xml" Id="R040627b1f3794749" /><Relationship Type="http://schemas.openxmlformats.org/officeDocument/2006/relationships/slide" Target="/ppt/slides/slide4.xml" Id="Rd06a8d151b4e4e3f" /><Relationship Type="http://schemas.openxmlformats.org/officeDocument/2006/relationships/slide" Target="/ppt/slides/slide5.xml" Id="Rbd17df2e215e4b5a" /><Relationship Type="http://schemas.openxmlformats.org/officeDocument/2006/relationships/slide" Target="/ppt/slides/slide6.xml" Id="R6306bf24421c49e1" /><Relationship Type="http://schemas.openxmlformats.org/officeDocument/2006/relationships/slide" Target="/ppt/slides/slide7.xml" Id="R9bb53144ea344ac9" /><Relationship Type="http://schemas.openxmlformats.org/officeDocument/2006/relationships/slide" Target="/ppt/slides/slide8.xml" Id="Rd957eca3207b464d" /><Relationship Type="http://schemas.openxmlformats.org/officeDocument/2006/relationships/slide" Target="/ppt/slides/slide9.xml" Id="R4bedf041e087490c" /><Relationship Type="http://schemas.openxmlformats.org/officeDocument/2006/relationships/slide" Target="/ppt/slides/slide10.xml" Id="R55264904b8f94da2" /><Relationship Type="http://schemas.openxmlformats.org/officeDocument/2006/relationships/slide" Target="/ppt/slides/slide11.xml" Id="R3b72e6eebcf64b40" /><Relationship Type="http://schemas.openxmlformats.org/officeDocument/2006/relationships/slide" Target="/ppt/slides/slide12.xml" Id="R07a9157a1270440b" /><Relationship Type="http://schemas.openxmlformats.org/officeDocument/2006/relationships/slide" Target="/ppt/slides/slide13.xml" Id="R4cb9139e6fe64068" /><Relationship Type="http://schemas.openxmlformats.org/officeDocument/2006/relationships/slide" Target="/ppt/slides/slide14.xml" Id="R0d6e57870856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2a9872e89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eb1c6878c444f" /><Relationship Type="http://schemas.openxmlformats.org/officeDocument/2006/relationships/notesMaster" Target="/ppt/notesMasters/notesMaster1.xml" Id="R2767ab5dbfa1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3d9bd6defe4d16" /><Relationship Type="http://schemas.openxmlformats.org/officeDocument/2006/relationships/notesMaster" Target="/ppt/notesMasters/notesMaster1.xml" Id="R6fe625ff53284e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ea11fb6da4f26" /><Relationship Type="http://schemas.openxmlformats.org/officeDocument/2006/relationships/notesMaster" Target="/ppt/notesMasters/notesMaster1.xml" Id="Rac60146278c9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db1211a95a42bf" /><Relationship Type="http://schemas.openxmlformats.org/officeDocument/2006/relationships/notesMaster" Target="/ppt/notesMasters/notesMaster1.xml" Id="Rb7a4bd34f594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bfac6b6d0c4389" /><Relationship Type="http://schemas.openxmlformats.org/officeDocument/2006/relationships/notesMaster" Target="/ppt/notesMasters/notesMaster1.xml" Id="R1ca5d85be402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ac87d73114d7c" /><Relationship Type="http://schemas.openxmlformats.org/officeDocument/2006/relationships/notesMaster" Target="/ppt/notesMasters/notesMaster1.xml" Id="R5e490a5153a1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b628f253548aa" /><Relationship Type="http://schemas.openxmlformats.org/officeDocument/2006/relationships/notesMaster" Target="/ppt/notesMasters/notesMaster1.xml" Id="Rcc626ece15134e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d911d8a1de40ca" /><Relationship Type="http://schemas.openxmlformats.org/officeDocument/2006/relationships/notesMaster" Target="/ppt/notesMasters/notesMaster1.xml" Id="Re853cc7e9ddd4d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f5291a2ee4bd9" /><Relationship Type="http://schemas.openxmlformats.org/officeDocument/2006/relationships/notesMaster" Target="/ppt/notesMasters/notesMaster1.xml" Id="R675f994740fa41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e958efa7dc4b95" /><Relationship Type="http://schemas.openxmlformats.org/officeDocument/2006/relationships/notesMaster" Target="/ppt/notesMasters/notesMaster1.xml" Id="R665b18c290234f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c0a11cf5d64514" /><Relationship Type="http://schemas.openxmlformats.org/officeDocument/2006/relationships/notesMaster" Target="/ppt/notesMasters/notesMaster1.xml" Id="Rb47e33a56cb746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744b5327b1420f" /><Relationship Type="http://schemas.openxmlformats.org/officeDocument/2006/relationships/notesMaster" Target="/ppt/notesMasters/notesMaster1.xml" Id="Rc12537b4654749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098d6febf24c3d" /><Relationship Type="http://schemas.openxmlformats.org/officeDocument/2006/relationships/notesMaster" Target="/ppt/notesMasters/notesMaster1.xml" Id="Rc45c2c572ba144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f1f51361934daa" /><Relationship Type="http://schemas.openxmlformats.org/officeDocument/2006/relationships/notesMaster" Target="/ppt/notesMasters/notesMaster1.xml" Id="Rfadd40c8a2e2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df0e12bc9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d4079269ed40bf" /><Relationship Type="http://schemas.openxmlformats.org/officeDocument/2006/relationships/slideLayout" Target="/ppt/slideLayouts/slideLayout1.xml" Id="R4a0e1333d888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e1333d888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ba2655ee34531" /><Relationship Type="http://schemas.openxmlformats.org/officeDocument/2006/relationships/image" Target="/ppt/media/image.png" Id="R9e1da8943c67417b" /><Relationship Type="http://schemas.openxmlformats.org/officeDocument/2006/relationships/notesSlide" Target="/ppt/notesSlides/notesSlide1.xml" Id="Rc5542dc5e2b34b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7552a41d432c" /><Relationship Type="http://schemas.openxmlformats.org/officeDocument/2006/relationships/notesSlide" Target="/ppt/notesSlides/notesSlide2.xml" Id="R2a2b22aae2c541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c7c3dc99b47c8" /><Relationship Type="http://schemas.openxmlformats.org/officeDocument/2006/relationships/image" Target="/ppt/media/image2.png" Id="R7467532880dc42b8" /><Relationship Type="http://schemas.openxmlformats.org/officeDocument/2006/relationships/image" Target="/ppt/media/image3.png" Id="Rd5e1d017c73c40d8" /><Relationship Type="http://schemas.openxmlformats.org/officeDocument/2006/relationships/image" Target="/ppt/media/image4.png" Id="Rf6d33cf3a36a4d9e" /><Relationship Type="http://schemas.openxmlformats.org/officeDocument/2006/relationships/notesSlide" Target="/ppt/notesSlides/notesSlide3.xml" Id="R1174a8eb1a51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b7e0f62f9410b" /><Relationship Type="http://schemas.openxmlformats.org/officeDocument/2006/relationships/image" Target="/ppt/media/image.jpeg" Id="Rf4ded1236f1c4b0c" /><Relationship Type="http://schemas.openxmlformats.org/officeDocument/2006/relationships/notesSlide" Target="/ppt/notesSlides/notesSlide4.xml" Id="Rd75bd550980c48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c7471df514bec" /><Relationship Type="http://schemas.openxmlformats.org/officeDocument/2006/relationships/image" Target="/ppt/media/image2.jpeg" Id="R7e7c50834e7a4070" /><Relationship Type="http://schemas.openxmlformats.org/officeDocument/2006/relationships/notesSlide" Target="/ppt/notesSlides/notesSlide5.xml" Id="R33dd5581fca9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033a66dd34097" /><Relationship Type="http://schemas.openxmlformats.org/officeDocument/2006/relationships/notesSlide" Target="/ppt/notesSlides/notesSlide6.xml" Id="Ra350493c88244b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0e461bd2f448b" /><Relationship Type="http://schemas.openxmlformats.org/officeDocument/2006/relationships/image" Target="/ppt/media/image3.jpeg" Id="R772c2c577f134d95" /><Relationship Type="http://schemas.openxmlformats.org/officeDocument/2006/relationships/notesSlide" Target="/ppt/notesSlides/notesSlide7.xml" Id="R404a96082c9049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d1b796fa14e2a" /><Relationship Type="http://schemas.openxmlformats.org/officeDocument/2006/relationships/notesSlide" Target="/ppt/notesSlides/notesSlide8.xml" Id="Ra7acb6d7b45547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486c14afa4beb" /><Relationship Type="http://schemas.openxmlformats.org/officeDocument/2006/relationships/notesSlide" Target="/ppt/notesSlides/notesSlide9.xml" Id="R0e37aa794a674b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31e5dec04f33" /><Relationship Type="http://schemas.openxmlformats.org/officeDocument/2006/relationships/notesSlide" Target="/ppt/notesSlides/notesSlide10.xml" Id="Rdb46ca76275f49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3513c812b40d7" /><Relationship Type="http://schemas.openxmlformats.org/officeDocument/2006/relationships/notesSlide" Target="/ppt/notesSlides/notesSlide11.xml" Id="Rf7fdc8eb6864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b9a1faa964d0f" /><Relationship Type="http://schemas.openxmlformats.org/officeDocument/2006/relationships/notesSlide" Target="/ppt/notesSlides/notesSlide12.xml" Id="Rae7b8ee98255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21ad30cbc4c4e" /><Relationship Type="http://schemas.openxmlformats.org/officeDocument/2006/relationships/notesSlide" Target="/ppt/notesSlides/notesSlide13.xml" Id="R82338d5ec6ee46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a10ffe4984419" /><Relationship Type="http://schemas.openxmlformats.org/officeDocument/2006/relationships/image" Target="/ppt/media/image5.png" Id="Rb4625b3750a641f3" /><Relationship Type="http://schemas.openxmlformats.org/officeDocument/2006/relationships/notesSlide" Target="/ppt/notesSlides/notesSlide14.xml" Id="Red4534e68d73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ide">
            <a:extLst xmlns:a="http://schemas.openxmlformats.org/drawingml/2006/main">
              <a:ext uri="{FF2B5EF4-FFF2-40B4-BE49-F238E27FC236}">
                <a16:creationId xmlns:a16="http://schemas.microsoft.com/office/drawing/2014/main" id="{FBC60EF2-684B-4749-90A5-D280E0BE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1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da8943c67417b"/>
          <a:srcRect xmlns:a="http://schemas.openxmlformats.org/drawingml/2006/main" l="0" t="4944" r="0" b="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57200"/>
            <a:ext cx="3048000" cy="5953125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3" name="k">
            <a:extLst xmlns:a="http://schemas.openxmlformats.org/drawingml/2006/main">
              <a:ext uri="{FF2B5EF4-FFF2-40B4-BE49-F238E27FC236}">
                <a16:creationId xmlns:a16="http://schemas.microsoft.com/office/drawing/2014/main" id="{87DEE758-42C0-490F-98D0-6B8C7D9F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7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UPDATE</a:t>
            </a:r>
          </a:p>
        </p:txBody>
      </p:sp>
      <p:sp>
        <p:nvSpPr>
          <p:cNvPr id="4" name="t">
            <a:extLst xmlns:a="http://schemas.openxmlformats.org/drawingml/2006/main">
              <a:ext uri="{FF2B5EF4-FFF2-40B4-BE49-F238E27FC236}">
                <a16:creationId xmlns:a16="http://schemas.microsoft.com/office/drawing/2014/main" id="{863F3E7A-8B7E-485E-92A1-A3DFD8CF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อัปเดตความคืบหน้าแอป</a:t>
            </a:r>
          </a:p>
          <a:p xmlns:a="http://schemas.openxmlformats.org/drawingml/2006/main">
            <a:pPr algn="l">
              <a:defRPr sz="36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และงบก่อนเปิดใช้งานจริง</a:t>
            </a:r>
          </a:p>
        </p:txBody>
      </p:sp>
      <p:sp>
        <p:nvSpPr>
          <p:cNvPr id="5" name="sub">
            <a:extLst xmlns:a="http://schemas.openxmlformats.org/drawingml/2006/main">
              <a:ext uri="{FF2B5EF4-FFF2-40B4-BE49-F238E27FC236}">
                <a16:creationId xmlns:a16="http://schemas.microsoft.com/office/drawing/2014/main" id="{AEA265D6-9510-4402-B4E7-6136000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สรุปสิ่งที่ทำเสร็จ • สิ่งที่กำลังต่อยอด • ต้นทุนที่ต้องตัดสินใจ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158DBF76-272C-484F-B14E-BC2DA52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24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22 กรกฎาคม 2026</a:t>
            </a:r>
          </a:p>
        </p:txBody>
      </p:sp>
      <p:sp>
        <p:nvSpPr>
          <p:cNvPr id="7" name="src">
            <a:extLst xmlns:a="http://schemas.openxmlformats.org/drawingml/2006/main">
              <a:ext uri="{FF2B5EF4-FFF2-40B4-BE49-F238E27FC236}">
                <a16:creationId xmlns:a16="http://schemas.microsoft.com/office/drawing/2014/main" id="{99BAD589-6850-4C90-AECD-D3B64E15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8A951D1F-D64F-44C6-B32C-D84C8871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387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F04580C4-BEA7-4519-BDD2-DC467320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9362E1-696B-4289-AFDC-467C0B1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3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ภาพรวม: โครงหลักของแอปพร้อมแล้ว งานถัดไปคือ Production readiness</a:t>
            </a:r>
          </a:p>
        </p:txBody>
      </p:sp>
      <p:sp>
        <p:nvSpPr>
          <p:cNvPr id="3" name="a">
            <a:extLst xmlns:a="http://schemas.openxmlformats.org/drawingml/2006/main">
              <a:ext uri="{FF2B5EF4-FFF2-40B4-BE49-F238E27FC236}">
                <a16:creationId xmlns:a16="http://schemas.microsoft.com/office/drawing/2014/main" id="{8CBEE875-DE5E-4D4A-AD82-27DBFDE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aa">
            <a:extLst xmlns:a="http://schemas.openxmlformats.org/drawingml/2006/main">
              <a:ext uri="{FF2B5EF4-FFF2-40B4-BE49-F238E27FC236}">
                <a16:creationId xmlns:a16="http://schemas.microsoft.com/office/drawing/2014/main" id="{96A3B57A-2327-4F47-9DD9-DE5AC95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h">
            <a:extLst xmlns:a="http://schemas.openxmlformats.org/drawingml/2006/main">
              <a:ext uri="{FF2B5EF4-FFF2-40B4-BE49-F238E27FC236}">
                <a16:creationId xmlns:a16="http://schemas.microsoft.com/office/drawing/2014/main" id="{0E20D9B9-16F2-4CE7-B524-3F80CE8E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ประสบการณ์ลูกค้า</a:t>
            </a:r>
          </a:p>
        </p:txBody>
      </p:sp>
      <p:sp>
        <p:nvSpPr>
          <p:cNvPr id="6" name="ast">
            <a:extLst xmlns:a="http://schemas.openxmlformats.org/drawingml/2006/main">
              <a:ext uri="{FF2B5EF4-FFF2-40B4-BE49-F238E27FC236}">
                <a16:creationId xmlns:a16="http://schemas.microsoft.com/office/drawing/2014/main" id="{28874AFB-697C-49C0-9159-DFE0F0F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rPr>
              <a:t>พร้อมระดับ MVP</a:t>
            </a:r>
          </a:p>
        </p:txBody>
      </p:sp>
      <p:sp>
        <p:nvSpPr>
          <p:cNvPr id="7" name="ab">
            <a:extLst xmlns:a="http://schemas.openxmlformats.org/drawingml/2006/main">
              <a:ext uri="{FF2B5EF4-FFF2-40B4-BE49-F238E27FC236}">
                <a16:creationId xmlns:a16="http://schemas.microsoft.com/office/drawing/2014/main" id="{DF52C734-26F2-4170-9D99-4D2A1968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2952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สมัครสมาชิก, ค้นหาโรงแรม, ดูรายละเอียด, โปรไฟล์สัตว์, Smart Match, จอง, แชท และชำระเงิน</a:t>
            </a:r>
          </a:p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B0CE95B4-4085-4736-AD72-8454FC36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ba">
            <a:extLst xmlns:a="http://schemas.openxmlformats.org/drawingml/2006/main">
              <a:ext uri="{FF2B5EF4-FFF2-40B4-BE49-F238E27FC236}">
                <a16:creationId xmlns:a16="http://schemas.microsoft.com/office/drawing/2014/main" id="{E81B68E0-774E-4E3B-A891-A22A0E9D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h">
            <a:extLst xmlns:a="http://schemas.openxmlformats.org/drawingml/2006/main">
              <a:ext uri="{FF2B5EF4-FFF2-40B4-BE49-F238E27FC236}">
                <a16:creationId xmlns:a16="http://schemas.microsoft.com/office/drawing/2014/main" id="{61AF98A0-848E-4BB3-BD41-2C8556B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ฝั่งโรงแรมและทีมงาน</a:t>
            </a:r>
          </a:p>
        </p:txBody>
      </p:sp>
      <p:sp>
        <p:nvSpPr>
          <p:cNvPr id="11" name="bst">
            <a:extLst xmlns:a="http://schemas.openxmlformats.org/drawingml/2006/main">
              <a:ext uri="{FF2B5EF4-FFF2-40B4-BE49-F238E27FC236}">
                <a16:creationId xmlns:a16="http://schemas.microsoft.com/office/drawing/2014/main" id="{1F86A3BF-DC14-444C-9616-B95F935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Flow หลักครบ</a:t>
            </a:r>
          </a:p>
        </p:txBody>
      </p:sp>
      <p:sp>
        <p:nvSpPr>
          <p:cNvPr id="12" name="bb">
            <a:extLst xmlns:a="http://schemas.openxmlformats.org/drawingml/2006/main">
              <a:ext uri="{FF2B5EF4-FFF2-40B4-BE49-F238E27FC236}">
                <a16:creationId xmlns:a16="http://schemas.microsoft.com/office/drawing/2014/main" id="{2C9B3CB2-CAB2-454E-9494-6C023F9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52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Partner application/dashboard, จัดการห้องและ booking, Admin และ Technician camera management</a:t>
            </a:r>
          </a:p>
        </p:txBody>
      </p:sp>
      <p:sp>
        <p:nvSpPr>
          <p:cNvPr id="13" name="c">
            <a:extLst xmlns:a="http://schemas.openxmlformats.org/drawingml/2006/main">
              <a:ext uri="{FF2B5EF4-FFF2-40B4-BE49-F238E27FC236}">
                <a16:creationId xmlns:a16="http://schemas.microsoft.com/office/drawing/2014/main" id="{DD68AA0D-5653-49C0-93A2-5C0CC04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4" name="ca">
            <a:extLst xmlns:a="http://schemas.openxmlformats.org/drawingml/2006/main">
              <a:ext uri="{FF2B5EF4-FFF2-40B4-BE49-F238E27FC236}">
                <a16:creationId xmlns:a16="http://schemas.microsoft.com/office/drawing/2014/main" id="{39D3380E-9B86-45FC-B8E6-752599AE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">
            <a:extLst xmlns:a="http://schemas.openxmlformats.org/drawingml/2006/main">
              <a:ext uri="{FF2B5EF4-FFF2-40B4-BE49-F238E27FC236}">
                <a16:creationId xmlns:a16="http://schemas.microsoft.com/office/drawing/2014/main" id="{866826F1-F8CC-4097-A78E-AFB2E61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ก่อนเปิดจริง</a:t>
            </a:r>
          </a:p>
        </p:txBody>
      </p:sp>
      <p:sp>
        <p:nvSpPr>
          <p:cNvPr id="16" name="cst">
            <a:extLst xmlns:a="http://schemas.openxmlformats.org/drawingml/2006/main">
              <a:ext uri="{FF2B5EF4-FFF2-40B4-BE49-F238E27FC236}">
                <a16:creationId xmlns:a16="http://schemas.microsoft.com/office/drawing/2014/main" id="{34336332-CEE9-4500-8CFD-C17FB5C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เหลืองาน Hardening</a:t>
            </a:r>
          </a:p>
        </p:txBody>
      </p:sp>
      <p:sp>
        <p:nvSpPr>
          <p:cNvPr id="17" name="cb">
            <a:extLst xmlns:a="http://schemas.openxmlformats.org/drawingml/2006/main">
              <a:ext uri="{FF2B5EF4-FFF2-40B4-BE49-F238E27FC236}">
                <a16:creationId xmlns:a16="http://schemas.microsoft.com/office/drawing/2014/main" id="{34924191-2C41-4561-BB29-4E98374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952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ทดสอบ payment settlement, remote camera, monitoring, security secrets, backup และ Store submission</a:t>
            </a:r>
          </a:p>
        </p:txBody>
      </p:sp>
      <p:sp>
        <p:nvSpPr>
          <p:cNvPr id="18" name="src">
            <a:extLst xmlns:a="http://schemas.openxmlformats.org/drawingml/2006/main">
              <a:ext uri="{FF2B5EF4-FFF2-40B4-BE49-F238E27FC236}">
                <a16:creationId xmlns:a16="http://schemas.microsoft.com/office/drawing/2014/main" id="{6ED12CA2-871F-498B-B511-085CD9F0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ตรวจจากโค้ดและเอกสาร handoff ล่าสุด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4ADB98A3-54BA-484F-BA33-791D2486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2565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8AD613E2-F8AC-427A-ABFC-6F9EA8C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85634C-8C5B-4CEF-8368-D522AED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หน้าตาแอปถูกออกแบบให้เข้าใจง่ายและพร้อมต่อยอดแบรนด์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7532880dc42b8"/>
          <a:srcRect xmlns:a="http://schemas.openxmlformats.org/drawingml/2006/main" l="0" t="13398" r="0" b="13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19250"/>
            <a:ext cx="2857500" cy="45339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1d017c73c40d8"/>
          <a:srcRect xmlns:a="http://schemas.openxmlformats.org/drawingml/2006/main" l="0" t="13398" r="0" b="13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619250"/>
            <a:ext cx="2857500" cy="45339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33cf3a36a4d9e"/>
          <a:srcRect xmlns:a="http://schemas.openxmlformats.org/drawingml/2006/main" l="0" t="13398" r="0" b="13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1619250"/>
            <a:ext cx="2857500" cy="45339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" name="l1">
            <a:extLst xmlns:a="http://schemas.openxmlformats.org/drawingml/2006/main">
              <a:ext uri="{FF2B5EF4-FFF2-40B4-BE49-F238E27FC236}">
                <a16:creationId xmlns:a16="http://schemas.microsoft.com/office/drawing/2014/main" id="{75BC0ADE-6525-4BB2-92CC-1C8C0392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เข้าสู่ระบบ</a:t>
            </a:r>
          </a:p>
        </p:txBody>
      </p:sp>
      <p:sp>
        <p:nvSpPr>
          <p:cNvPr id="7" name="l2">
            <a:extLst xmlns:a="http://schemas.openxmlformats.org/drawingml/2006/main">
              <a:ext uri="{FF2B5EF4-FFF2-40B4-BE49-F238E27FC236}">
                <a16:creationId xmlns:a16="http://schemas.microsoft.com/office/drawing/2014/main" id="{C4A02F80-920C-4A60-95BA-05FD3405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สมัครสมาชิก</a:t>
            </a:r>
          </a:p>
        </p:txBody>
      </p:sp>
      <p:sp>
        <p:nvSpPr>
          <p:cNvPr id="8" name="l3">
            <a:extLst xmlns:a="http://schemas.openxmlformats.org/drawingml/2006/main">
              <a:ext uri="{FF2B5EF4-FFF2-40B4-BE49-F238E27FC236}">
                <a16:creationId xmlns:a16="http://schemas.microsoft.com/office/drawing/2014/main" id="{29EFE2EC-0FB9-4ED7-A43C-79444BD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2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กู้รหัสผ่าน</a:t>
            </a:r>
          </a:p>
        </p:txBody>
      </p:sp>
      <p:sp>
        <p:nvSpPr>
          <p:cNvPr id="9" name="src">
            <a:extLst xmlns:a="http://schemas.openxmlformats.org/drawingml/2006/main">
              <a:ext uri="{FF2B5EF4-FFF2-40B4-BE49-F238E27FC236}">
                <a16:creationId xmlns:a16="http://schemas.microsoft.com/office/drawing/2014/main" id="{6E7218B9-6703-45E4-91CB-20B9E2C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ภาพหน้าจอจาก Flutter web build ของโปรเจกต์ ณ 22 ก.ค.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9AAD5BA-3ADB-4EFB-AE9E-E328B43F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6103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16702B5-6331-43AF-A576-910907A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ABA708-C418-4665-B6F2-CE01E1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Customer journey หลักถูกเชื่อมตั้งแต่ค้นหาโรงแรมจนถึงการจ่ายเงิน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d1236f1c4b0c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19250"/>
            <a:ext cx="3429000" cy="3714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big">
            <a:extLst xmlns:a="http://schemas.openxmlformats.org/drawingml/2006/main">
              <a:ext uri="{FF2B5EF4-FFF2-40B4-BE49-F238E27FC236}">
                <a16:creationId xmlns:a16="http://schemas.microsoft.com/office/drawing/2014/main" id="{5382754F-CAAD-4974-ADAB-19845936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rPr>
              <a:t>ค้นหา → เปรียบเทียบ → จอง → จ่าย</a:t>
            </a:r>
          </a:p>
        </p:txBody>
      </p:sp>
      <p:sp>
        <p:nvSpPr>
          <p:cNvPr id="5" name="dot0">
            <a:extLst xmlns:a="http://schemas.openxmlformats.org/drawingml/2006/main">
              <a:ext uri="{FF2B5EF4-FFF2-40B4-BE49-F238E27FC236}">
                <a16:creationId xmlns:a16="http://schemas.microsoft.com/office/drawing/2014/main" id="{D254A791-03B0-42E4-89F9-19FDB37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6" name="bul0">
            <a:extLst xmlns:a="http://schemas.openxmlformats.org/drawingml/2006/main">
              <a:ext uri="{FF2B5EF4-FFF2-40B4-BE49-F238E27FC236}">
                <a16:creationId xmlns:a16="http://schemas.microsoft.com/office/drawing/2014/main" id="{6181946B-3A3D-4838-B7E5-623AE30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676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ค้นหาโรงแรมและดูห้องจากข้อมูลจริงใน backend</a:t>
            </a:r>
          </a:p>
        </p:txBody>
      </p:sp>
      <p:sp>
        <p:nvSpPr>
          <p:cNvPr id="7" name="dot1">
            <a:extLst xmlns:a="http://schemas.openxmlformats.org/drawingml/2006/main">
              <a:ext uri="{FF2B5EF4-FFF2-40B4-BE49-F238E27FC236}">
                <a16:creationId xmlns:a16="http://schemas.microsoft.com/office/drawing/2014/main" id="{39AC4BE5-A1C3-4EF2-9AA1-92BBAA5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8" name="bul1">
            <a:extLst xmlns:a="http://schemas.openxmlformats.org/drawingml/2006/main">
              <a:ext uri="{FF2B5EF4-FFF2-40B4-BE49-F238E27FC236}">
                <a16:creationId xmlns:a16="http://schemas.microsoft.com/office/drawing/2014/main" id="{2F71856E-E523-4D3F-9352-1C468079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76625"/>
            <a:ext cx="676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เก็บโปรไฟล์สัตว์เพื่อใช้กับ booking และ Smart Match</a:t>
            </a:r>
          </a:p>
        </p:txBody>
      </p:sp>
      <p:sp>
        <p:nvSpPr>
          <p:cNvPr id="9" name="dot2">
            <a:extLst xmlns:a="http://schemas.openxmlformats.org/drawingml/2006/main">
              <a:ext uri="{FF2B5EF4-FFF2-40B4-BE49-F238E27FC236}">
                <a16:creationId xmlns:a16="http://schemas.microsoft.com/office/drawing/2014/main" id="{AAA4440D-A746-40C4-A637-47520C8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0" name="bul2">
            <a:extLst xmlns:a="http://schemas.openxmlformats.org/drawingml/2006/main">
              <a:ext uri="{FF2B5EF4-FFF2-40B4-BE49-F238E27FC236}">
                <a16:creationId xmlns:a16="http://schemas.microsoft.com/office/drawing/2014/main" id="{EF68EAC6-DC67-49DE-B351-106E7B9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676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คำนวณยอดจองตามจำนวนคืนและราคาห้อง</a:t>
            </a:r>
          </a:p>
        </p:txBody>
      </p:sp>
      <p:sp>
        <p:nvSpPr>
          <p:cNvPr id="11" name="dot3">
            <a:extLst xmlns:a="http://schemas.openxmlformats.org/drawingml/2006/main">
              <a:ext uri="{FF2B5EF4-FFF2-40B4-BE49-F238E27FC236}">
                <a16:creationId xmlns:a16="http://schemas.microsoft.com/office/drawing/2014/main" id="{DE57D314-1EED-4EAA-ADE0-F99719B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2" name="bul3">
            <a:extLst xmlns:a="http://schemas.openxmlformats.org/drawingml/2006/main">
              <a:ext uri="{FF2B5EF4-FFF2-40B4-BE49-F238E27FC236}">
                <a16:creationId xmlns:a16="http://schemas.microsoft.com/office/drawing/2014/main" id="{5394FBFB-0D5C-42DB-84C4-62E0AED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24375"/>
            <a:ext cx="676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ชำระผ่าน PromptPay QR หรือบัตรด้วย Omise</a:t>
            </a:r>
          </a:p>
        </p:txBody>
      </p:sp>
      <p:sp>
        <p:nvSpPr>
          <p:cNvPr id="13" name="dot4">
            <a:extLst xmlns:a="http://schemas.openxmlformats.org/drawingml/2006/main">
              <a:ext uri="{FF2B5EF4-FFF2-40B4-BE49-F238E27FC236}">
                <a16:creationId xmlns:a16="http://schemas.microsoft.com/office/drawing/2014/main" id="{E7ED6F45-6BB1-42DC-8EF7-4BD245D5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4" name="bul4">
            <a:extLst xmlns:a="http://schemas.openxmlformats.org/drawingml/2006/main">
              <a:ext uri="{FF2B5EF4-FFF2-40B4-BE49-F238E27FC236}">
                <a16:creationId xmlns:a16="http://schemas.microsoft.com/office/drawing/2014/main" id="{5869D477-571A-41B0-8AE0-0FF271A6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48250"/>
            <a:ext cx="676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สถานะการชำระสะท้อนกลับไปยัง booking และหน้า Admin</a:t>
            </a:r>
          </a:p>
        </p:txBody>
      </p:sp>
      <p:sp>
        <p:nvSpPr>
          <p:cNvPr id="15" name="src">
            <a:extLst xmlns:a="http://schemas.openxmlformats.org/drawingml/2006/main">
              <a:ext uri="{FF2B5EF4-FFF2-40B4-BE49-F238E27FC236}">
                <a16:creationId xmlns:a16="http://schemas.microsoft.com/office/drawing/2014/main" id="{B02F8BE4-0EC7-4C67-9C56-1F523C11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หลักฐาน: hotel/booking/payment repositories และ backend API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ABFC762D-5C0D-4716-B2EE-57667EE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8968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CD89F62-B788-4121-BD60-B16067E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ECF406-509D-4257-95EE-CD201EC4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3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AI Smart Match ใช้การค้นหาในระบบเป็นหลัก — Gemini เป็นตัวช่วยเสริม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c50834e7a4070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19250"/>
            <a:ext cx="40005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m1">
            <a:extLst xmlns:a="http://schemas.openxmlformats.org/drawingml/2006/main">
              <a:ext uri="{FF2B5EF4-FFF2-40B4-BE49-F238E27FC236}">
                <a16:creationId xmlns:a16="http://schemas.microsoft.com/office/drawing/2014/main" id="{3823A2B2-93BF-481C-94A1-D94230F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31051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5" name="m1a">
            <a:extLst xmlns:a="http://schemas.openxmlformats.org/drawingml/2006/main">
              <a:ext uri="{FF2B5EF4-FFF2-40B4-BE49-F238E27FC236}">
                <a16:creationId xmlns:a16="http://schemas.microsoft.com/office/drawing/2014/main" id="{CFDD807C-2C21-4A83-BF6F-CA4E28E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1h">
            <a:extLst xmlns:a="http://schemas.openxmlformats.org/drawingml/2006/main">
              <a:ext uri="{FF2B5EF4-FFF2-40B4-BE49-F238E27FC236}">
                <a16:creationId xmlns:a16="http://schemas.microsoft.com/office/drawing/2014/main" id="{3FE2D340-77FB-4DC0-8BDB-D76E71C0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ค้นหาแบบ Semantic</a:t>
            </a:r>
          </a:p>
        </p:txBody>
      </p:sp>
      <p:sp>
        <p:nvSpPr>
          <p:cNvPr id="7" name="m1b">
            <a:extLst xmlns:a="http://schemas.openxmlformats.org/drawingml/2006/main">
              <a:ext uri="{FF2B5EF4-FFF2-40B4-BE49-F238E27FC236}">
                <a16:creationId xmlns:a16="http://schemas.microsoft.com/office/drawing/2014/main" id="{753CAC36-CCD5-4DAF-9694-349AB46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FastEmbed + pgvector จัดอันดับโรงแรมตามความต้องการ โดยไม่เสียค่า API ต่อคำขอ</a:t>
            </a:r>
          </a:p>
        </p:txBody>
      </p:sp>
      <p:sp>
        <p:nvSpPr>
          <p:cNvPr id="8" name="m2">
            <a:extLst xmlns:a="http://schemas.openxmlformats.org/drawingml/2006/main">
              <a:ext uri="{FF2B5EF4-FFF2-40B4-BE49-F238E27FC236}">
                <a16:creationId xmlns:a16="http://schemas.microsoft.com/office/drawing/2014/main" id="{75E487A2-8025-4AE4-9E79-C09D637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448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m2a">
            <a:extLst xmlns:a="http://schemas.openxmlformats.org/drawingml/2006/main">
              <a:ext uri="{FF2B5EF4-FFF2-40B4-BE49-F238E27FC236}">
                <a16:creationId xmlns:a16="http://schemas.microsoft.com/office/drawing/2014/main" id="{3311C971-3BF5-4683-9E95-F003DBDD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2h">
            <a:extLst xmlns:a="http://schemas.openxmlformats.org/drawingml/2006/main">
              <a:ext uri="{FF2B5EF4-FFF2-40B4-BE49-F238E27FC236}">
                <a16:creationId xmlns:a16="http://schemas.microsoft.com/office/drawing/2014/main" id="{924151C2-62F6-43A9-83A6-1DA0703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Gemini Enrichment</a:t>
            </a:r>
          </a:p>
        </p:txBody>
      </p:sp>
      <p:sp>
        <p:nvSpPr>
          <p:cNvPr id="11" name="m2b">
            <a:extLst xmlns:a="http://schemas.openxmlformats.org/drawingml/2006/main">
              <a:ext uri="{FF2B5EF4-FFF2-40B4-BE49-F238E27FC236}">
                <a16:creationId xmlns:a16="http://schemas.microsoft.com/office/drawing/2014/main" id="{0A69AE32-16A8-4153-BDD5-87ABD41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ช่วยเรียบเรียงเหตุผลให้อ่านง่าย มี timeout, cache และ concurrency guard</a:t>
            </a:r>
          </a:p>
        </p:txBody>
      </p:sp>
      <p:sp>
        <p:nvSpPr>
          <p:cNvPr id="12" name="m3">
            <a:extLst xmlns:a="http://schemas.openxmlformats.org/drawingml/2006/main">
              <a:ext uri="{FF2B5EF4-FFF2-40B4-BE49-F238E27FC236}">
                <a16:creationId xmlns:a16="http://schemas.microsoft.com/office/drawing/2014/main" id="{A3C20032-6731-4FD8-808D-F39B422F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68770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3" name="m3a">
            <a:extLst xmlns:a="http://schemas.openxmlformats.org/drawingml/2006/main">
              <a:ext uri="{FF2B5EF4-FFF2-40B4-BE49-F238E27FC236}">
                <a16:creationId xmlns:a16="http://schemas.microsoft.com/office/drawing/2014/main" id="{4A8C79F9-F208-4D33-A1E7-C715A81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957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3h">
            <a:extLst xmlns:a="http://schemas.openxmlformats.org/drawingml/2006/main">
              <a:ext uri="{FF2B5EF4-FFF2-40B4-BE49-F238E27FC236}">
                <a16:creationId xmlns:a16="http://schemas.microsoft.com/office/drawing/2014/main" id="{C55351A8-CF4E-472E-9C22-4C8CBAA4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ผลต่อธุรกิจ</a:t>
            </a:r>
          </a:p>
        </p:txBody>
      </p:sp>
      <p:sp>
        <p:nvSpPr>
          <p:cNvPr id="15" name="m3b">
            <a:extLst xmlns:a="http://schemas.openxmlformats.org/drawingml/2006/main">
              <a:ext uri="{FF2B5EF4-FFF2-40B4-BE49-F238E27FC236}">
                <a16:creationId xmlns:a16="http://schemas.microsoft.com/office/drawing/2014/main" id="{DC39AB6B-6E5F-4F73-BFCB-BAE174C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6400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ระบบยังให้ผลลัพธ์ได้แม้ Gemini ช้าหรือ quota หมด ลดความเสี่ยงที่ฟีเจอร์หลักจะล่มเพราะผู้ให้บริการภายนอก</a:t>
            </a:r>
          </a:p>
        </p:txBody>
      </p:sp>
      <p:sp>
        <p:nvSpPr>
          <p:cNvPr id="16" name="src">
            <a:extLst xmlns:a="http://schemas.openxmlformats.org/drawingml/2006/main">
              <a:ext uri="{FF2B5EF4-FFF2-40B4-BE49-F238E27FC236}">
                <a16:creationId xmlns:a16="http://schemas.microsoft.com/office/drawing/2014/main" id="{11AE255F-09C6-49CA-8460-FE186743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backend/app/match_service.py, gemini_client.py และเอกสาร Tech Handoff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07DCCFAA-7B1B-451B-89F6-DE59AD5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9980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6AFFB799-C809-4821-AF93-ECEBDFFC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CA5AD2-C844-490B-87D9-2CADCFCD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Payment Gateway เพิ่มเข้ามาแล้ว: รองรับ PromptPay และบัตร</a:t>
            </a:r>
          </a:p>
        </p:txBody>
      </p:sp>
      <p:sp>
        <p:nvSpPr>
          <p:cNvPr id="3" name="p1">
            <a:extLst xmlns:a="http://schemas.openxmlformats.org/drawingml/2006/main">
              <a:ext uri="{FF2B5EF4-FFF2-40B4-BE49-F238E27FC236}">
                <a16:creationId xmlns:a16="http://schemas.microsoft.com/office/drawing/2014/main" id="{E7EFE2B5-0C86-47F5-88A9-8BC21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p1a">
            <a:extLst xmlns:a="http://schemas.openxmlformats.org/drawingml/2006/main">
              <a:ext uri="{FF2B5EF4-FFF2-40B4-BE49-F238E27FC236}">
                <a16:creationId xmlns:a16="http://schemas.microsoft.com/office/drawing/2014/main" id="{18305966-346D-4464-A374-95917A42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h">
            <a:extLst xmlns:a="http://schemas.openxmlformats.org/drawingml/2006/main">
              <a:ext uri="{FF2B5EF4-FFF2-40B4-BE49-F238E27FC236}">
                <a16:creationId xmlns:a16="http://schemas.microsoft.com/office/drawing/2014/main" id="{3DAEFB4E-68A4-4EBD-842B-0433698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PromptPay</a:t>
            </a:r>
          </a:p>
        </p:txBody>
      </p:sp>
      <p:sp>
        <p:nvSpPr>
          <p:cNvPr id="6" name="p1st">
            <a:extLst xmlns:a="http://schemas.openxmlformats.org/drawingml/2006/main">
              <a:ext uri="{FF2B5EF4-FFF2-40B4-BE49-F238E27FC236}">
                <a16:creationId xmlns:a16="http://schemas.microsoft.com/office/drawing/2014/main" id="{5269677E-D89D-4AF1-9AAF-535B6B13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rPr>
              <a:t>1.7655%</a:t>
            </a:r>
          </a:p>
        </p:txBody>
      </p:sp>
      <p:sp>
        <p:nvSpPr>
          <p:cNvPr id="7" name="p1b">
            <a:extLst xmlns:a="http://schemas.openxmlformats.org/drawingml/2006/main">
              <a:ext uri="{FF2B5EF4-FFF2-40B4-BE49-F238E27FC236}">
                <a16:creationId xmlns:a16="http://schemas.microsoft.com/office/drawing/2014/main" id="{1D9583DA-C178-481E-A0EF-CDC054B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สร้าง QR จาก Omise source และติดตามสถานะจนสำเร็จ/หมดอายุ</a:t>
            </a:r>
          </a:p>
        </p:txBody>
      </p:sp>
      <p:sp>
        <p:nvSpPr>
          <p:cNvPr id="8" name="p2">
            <a:extLst xmlns:a="http://schemas.openxmlformats.org/drawingml/2006/main">
              <a:ext uri="{FF2B5EF4-FFF2-40B4-BE49-F238E27FC236}">
                <a16:creationId xmlns:a16="http://schemas.microsoft.com/office/drawing/2014/main" id="{069F0DFD-5933-4ED6-A02A-030644E9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p2a">
            <a:extLst xmlns:a="http://schemas.openxmlformats.org/drawingml/2006/main">
              <a:ext uri="{FF2B5EF4-FFF2-40B4-BE49-F238E27FC236}">
                <a16:creationId xmlns:a16="http://schemas.microsoft.com/office/drawing/2014/main" id="{9D89ED63-AFB1-4C9A-8703-F7D45D3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h">
            <a:extLst xmlns:a="http://schemas.openxmlformats.org/drawingml/2006/main">
              <a:ext uri="{FF2B5EF4-FFF2-40B4-BE49-F238E27FC236}">
                <a16:creationId xmlns:a16="http://schemas.microsoft.com/office/drawing/2014/main" id="{530063B4-CFBB-4F41-A423-4DA74C6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บัตรเครดิต/เดบิต</a:t>
            </a:r>
          </a:p>
        </p:txBody>
      </p:sp>
      <p:sp>
        <p:nvSpPr>
          <p:cNvPr id="11" name="p2st">
            <a:extLst xmlns:a="http://schemas.openxmlformats.org/drawingml/2006/main">
              <a:ext uri="{FF2B5EF4-FFF2-40B4-BE49-F238E27FC236}">
                <a16:creationId xmlns:a16="http://schemas.microsoft.com/office/drawing/2014/main" id="{45AA7B48-D3EE-465E-A9A2-D1B57699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3.9055%</a:t>
            </a:r>
          </a:p>
        </p:txBody>
      </p:sp>
      <p:sp>
        <p:nvSpPr>
          <p:cNvPr id="12" name="p2b">
            <a:extLst xmlns:a="http://schemas.openxmlformats.org/drawingml/2006/main">
              <a:ext uri="{FF2B5EF4-FFF2-40B4-BE49-F238E27FC236}">
                <a16:creationId xmlns:a16="http://schemas.microsoft.com/office/drawing/2014/main" id="{45D9FDF9-5B86-4B1C-B25D-67C11F4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สร้าง token ฝั่ง client แล้วส่งให้ backend สร้าง charge</a:t>
            </a:r>
          </a:p>
        </p:txBody>
      </p:sp>
      <p:sp>
        <p:nvSpPr>
          <p:cNvPr id="13" name="p3">
            <a:extLst xmlns:a="http://schemas.openxmlformats.org/drawingml/2006/main">
              <a:ext uri="{FF2B5EF4-FFF2-40B4-BE49-F238E27FC236}">
                <a16:creationId xmlns:a16="http://schemas.microsoft.com/office/drawing/2014/main" id="{1A5E58E3-E37D-412B-9937-BFD5635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4" name="p3a">
            <a:extLst xmlns:a="http://schemas.openxmlformats.org/drawingml/2006/main">
              <a:ext uri="{FF2B5EF4-FFF2-40B4-BE49-F238E27FC236}">
                <a16:creationId xmlns:a16="http://schemas.microsoft.com/office/drawing/2014/main" id="{40190DD5-80EF-4055-A688-1A0265B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3h">
            <a:extLst xmlns:a="http://schemas.openxmlformats.org/drawingml/2006/main">
              <a:ext uri="{FF2B5EF4-FFF2-40B4-BE49-F238E27FC236}">
                <a16:creationId xmlns:a16="http://schemas.microsoft.com/office/drawing/2014/main" id="{86CE2A30-01D8-40DE-BD25-98CB0C1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Admin &amp; Refund</a:t>
            </a:r>
          </a:p>
        </p:txBody>
      </p:sp>
      <p:sp>
        <p:nvSpPr>
          <p:cNvPr id="16" name="p3st">
            <a:extLst xmlns:a="http://schemas.openxmlformats.org/drawingml/2006/main">
              <a:ext uri="{FF2B5EF4-FFF2-40B4-BE49-F238E27FC236}">
                <a16:creationId xmlns:a16="http://schemas.microsoft.com/office/drawing/2014/main" id="{00BB5A22-9492-4CCF-BCAA-D26199DE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Flow เชื่อมแล้ว</a:t>
            </a:r>
          </a:p>
        </p:txBody>
      </p:sp>
      <p:sp>
        <p:nvSpPr>
          <p:cNvPr id="17" name="p3b">
            <a:extLst xmlns:a="http://schemas.openxmlformats.org/drawingml/2006/main">
              <a:ext uri="{FF2B5EF4-FFF2-40B4-BE49-F238E27FC236}">
                <a16:creationId xmlns:a16="http://schemas.microsoft.com/office/drawing/2014/main" id="{C32FC9F7-7155-40B1-9A1E-E22B3DC1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95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ดูรายการชำระ รายงานรายได้ และสั่ง refund จากระบบหลังบ้าน</a:t>
            </a:r>
          </a:p>
        </p:txBody>
      </p:sp>
      <p:sp>
        <p:nvSpPr>
          <p:cNvPr id="18" name="n">
            <a:extLst xmlns:a="http://schemas.openxmlformats.org/drawingml/2006/main">
              <a:ext uri="{FF2B5EF4-FFF2-40B4-BE49-F238E27FC236}">
                <a16:creationId xmlns:a16="http://schemas.microsoft.com/office/drawing/2014/main" id="{64D65D7F-1902-4443-8EEE-9DD8DBB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ตัวเลขรวม VAT 7% ของค่าบริการ gateway; ยังมีค่าถอนเข้าธนาคารตามรอบโอน</a:t>
            </a:r>
          </a:p>
        </p:txBody>
      </p:sp>
      <p:sp>
        <p:nvSpPr>
          <p:cNvPr id="19" name="src">
            <a:extLst xmlns:a="http://schemas.openxmlformats.org/drawingml/2006/main">
              <a:ext uri="{FF2B5EF4-FFF2-40B4-BE49-F238E27FC236}">
                <a16:creationId xmlns:a16="http://schemas.microsoft.com/office/drawing/2014/main" id="{38216FFE-64EB-4368-853B-61F9D8F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อัตรา Omise Thailand ณ 22 ก.ค. 2026; implementation จาก payments.py และ omise_client.py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7AAF8C74-467E-45F7-946D-791DE11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9340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FF8D83C-78A2-43EE-911B-7CA93B1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C2B6DA-91DF-4746-8B8E-A6FD25E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กล้อง: ระบบลงทะเบียนและตรวจสิทธิ์พร้อม แต่ Remote viewing ยังเป็นเฟสถัดไป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c2c577f134d95"/>
          <a:srcRect xmlns:a="http://schemas.openxmlformats.org/drawingml/2006/main" l="0" t="11585" r="0" b="11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19250"/>
            <a:ext cx="3905250" cy="400050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4" name="g1">
            <a:extLst xmlns:a="http://schemas.openxmlformats.org/drawingml/2006/main">
              <a:ext uri="{FF2B5EF4-FFF2-40B4-BE49-F238E27FC236}">
                <a16:creationId xmlns:a16="http://schemas.microsoft.com/office/drawing/2014/main" id="{A4501213-C8EF-4645-BCBC-15D25B6F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2575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5" name="g1a">
            <a:extLst xmlns:a="http://schemas.openxmlformats.org/drawingml/2006/main">
              <a:ext uri="{FF2B5EF4-FFF2-40B4-BE49-F238E27FC236}">
                <a16:creationId xmlns:a16="http://schemas.microsoft.com/office/drawing/2014/main" id="{9EAD2B0A-9A90-4F5E-96CB-BFE819D0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1h">
            <a:extLst xmlns:a="http://schemas.openxmlformats.org/drawingml/2006/main">
              <a:ext uri="{FF2B5EF4-FFF2-40B4-BE49-F238E27FC236}">
                <a16:creationId xmlns:a16="http://schemas.microsoft.com/office/drawing/2014/main" id="{3920B9A7-E701-4400-9880-E3EA2BE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288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ทำแล้ว</a:t>
            </a:r>
          </a:p>
        </p:txBody>
      </p:sp>
      <p:sp>
        <p:nvSpPr>
          <p:cNvPr id="7" name="g1b">
            <a:extLst xmlns:a="http://schemas.openxmlformats.org/drawingml/2006/main">
              <a:ext uri="{FF2B5EF4-FFF2-40B4-BE49-F238E27FC236}">
                <a16:creationId xmlns:a16="http://schemas.microsoft.com/office/drawing/2014/main" id="{C2C18843-4181-4FC7-9AF3-E1A2229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86000"/>
            <a:ext cx="2781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ช่างเพิ่มกล้อง RTSP/HTTP/ONVIF, เข้ารหัสรหัสผ่าน และตรวจ connection ได้</a:t>
            </a:r>
          </a:p>
        </p:txBody>
      </p:sp>
      <p:sp>
        <p:nvSpPr>
          <p:cNvPr id="8" name="g2">
            <a:extLst xmlns:a="http://schemas.openxmlformats.org/drawingml/2006/main">
              <a:ext uri="{FF2B5EF4-FFF2-40B4-BE49-F238E27FC236}">
                <a16:creationId xmlns:a16="http://schemas.microsoft.com/office/drawing/2014/main" id="{81A847D9-BC10-46C5-A779-4EF292A1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371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g2a">
            <a:extLst xmlns:a="http://schemas.openxmlformats.org/drawingml/2006/main">
              <a:ext uri="{FF2B5EF4-FFF2-40B4-BE49-F238E27FC236}">
                <a16:creationId xmlns:a16="http://schemas.microsoft.com/office/drawing/2014/main" id="{042AC866-A2D4-4DA8-A4B9-1BEDAE1F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2h">
            <a:extLst xmlns:a="http://schemas.openxmlformats.org/drawingml/2006/main">
              <a:ext uri="{FF2B5EF4-FFF2-40B4-BE49-F238E27FC236}">
                <a16:creationId xmlns:a16="http://schemas.microsoft.com/office/drawing/2014/main" id="{D4C5F590-26C0-429E-9B03-185B2FF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ข้อจำกัดปัจจุบัน</a:t>
            </a:r>
          </a:p>
        </p:txBody>
      </p:sp>
      <p:sp>
        <p:nvSpPr>
          <p:cNvPr id="11" name="g2b">
            <a:extLst xmlns:a="http://schemas.openxmlformats.org/drawingml/2006/main">
              <a:ext uri="{FF2B5EF4-FFF2-40B4-BE49-F238E27FC236}">
                <a16:creationId xmlns:a16="http://schemas.microsoft.com/office/drawing/2014/main" id="{379814D3-20DC-4E03-BDE8-F1BA5671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895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กล้องเป็น LAN IP ลูกค้านอกโรงแรมจึงยังดูไม่ได้อย่างปลอดภัย</a:t>
            </a:r>
          </a:p>
        </p:txBody>
      </p:sp>
      <p:sp>
        <p:nvSpPr>
          <p:cNvPr id="12" name="g3">
            <a:extLst xmlns:a="http://schemas.openxmlformats.org/drawingml/2006/main">
              <a:ext uri="{FF2B5EF4-FFF2-40B4-BE49-F238E27FC236}">
                <a16:creationId xmlns:a16="http://schemas.microsoft.com/office/drawing/2014/main" id="{EABF8E8F-4025-4A18-A9A1-8DB8B0C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6972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3" name="g3a">
            <a:extLst xmlns:a="http://schemas.openxmlformats.org/drawingml/2006/main">
              <a:ext uri="{FF2B5EF4-FFF2-40B4-BE49-F238E27FC236}">
                <a16:creationId xmlns:a16="http://schemas.microsoft.com/office/drawing/2014/main" id="{4FBC7680-1176-49E9-8D79-4E4C6825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3h">
            <a:extLst xmlns:a="http://schemas.openxmlformats.org/drawingml/2006/main">
              <a:ext uri="{FF2B5EF4-FFF2-40B4-BE49-F238E27FC236}">
                <a16:creationId xmlns:a16="http://schemas.microsoft.com/office/drawing/2014/main" id="{70EA3742-2C84-48F6-8EDD-CF16252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19550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ทางเลือกที่แนะนำ</a:t>
            </a:r>
          </a:p>
        </p:txBody>
      </p:sp>
      <p:sp>
        <p:nvSpPr>
          <p:cNvPr id="15" name="g3b">
            <a:extLst xmlns:a="http://schemas.openxmlformats.org/drawingml/2006/main">
              <a:ext uri="{FF2B5EF4-FFF2-40B4-BE49-F238E27FC236}">
                <a16:creationId xmlns:a16="http://schemas.microsoft.com/office/drawing/2014/main" id="{5D84ED4D-4A2F-47C8-B26B-A8FC381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6496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คงกล้อง RTSP เดิม + Mini Hub ต่อโรงแรม เพื่อส่งสตรีมแบบ outbound/P2P และใช้ TURN เฉพาะ fallback</a:t>
            </a:r>
          </a:p>
        </p:txBody>
      </p:sp>
      <p:sp>
        <p:nvSpPr>
          <p:cNvPr id="16" name="src">
            <a:extLst xmlns:a="http://schemas.openxmlformats.org/drawingml/2006/main">
              <a:ext uri="{FF2B5EF4-FFF2-40B4-BE49-F238E27FC236}">
                <a16:creationId xmlns:a16="http://schemas.microsoft.com/office/drawing/2014/main" id="{DC8E39A8-7FBD-4C09-B6ED-97C6F562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backend/app/api/cameras.py และ PetPal_Tech_Handoff.pdf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48D449F6-9734-4ECB-824E-A2935E8D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2275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4C55727A-2EB1-4AF6-870E-947CA9B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619079-182A-413C-9087-098A1331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Mini Hub เหมาะเป็นแผนหลัก; กล้อง Cloud เหมาะเป็นทางลัดบางกรณี</a:t>
            </a:r>
          </a:p>
        </p:txBody>
      </p:sp>
      <p:sp>
        <p:nvSpPr>
          <p:cNvPr id="3" name="r0">
            <a:extLst xmlns:a="http://schemas.openxmlformats.org/drawingml/2006/main">
              <a:ext uri="{FF2B5EF4-FFF2-40B4-BE49-F238E27FC236}">
                <a16:creationId xmlns:a16="http://schemas.microsoft.com/office/drawing/2014/main" id="{35062698-30BA-423C-A300-523C219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00">
            <a:extLst xmlns:a="http://schemas.openxmlformats.org/drawingml/2006/main">
              <a:ext uri="{FF2B5EF4-FFF2-40B4-BE49-F238E27FC236}">
                <a16:creationId xmlns:a16="http://schemas.microsoft.com/office/drawing/2014/main" id="{A3E77EE4-D6FD-421D-BFBD-81EB396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หัวข้อ</a:t>
            </a:r>
          </a:p>
        </p:txBody>
      </p:sp>
      <p:sp>
        <p:nvSpPr>
          <p:cNvPr id="5" name="c01">
            <a:extLst xmlns:a="http://schemas.openxmlformats.org/drawingml/2006/main">
              <a:ext uri="{FF2B5EF4-FFF2-40B4-BE49-F238E27FC236}">
                <a16:creationId xmlns:a16="http://schemas.microsoft.com/office/drawing/2014/main" id="{F4441186-903C-49E9-93F7-2093B5D5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Cloud camera/API</a:t>
            </a:r>
          </a:p>
        </p:txBody>
      </p:sp>
      <p:sp>
        <p:nvSpPr>
          <p:cNvPr id="6" name="c02">
            <a:extLst xmlns:a="http://schemas.openxmlformats.org/drawingml/2006/main">
              <a:ext uri="{FF2B5EF4-FFF2-40B4-BE49-F238E27FC236}">
                <a16:creationId xmlns:a16="http://schemas.microsoft.com/office/drawing/2014/main" id="{28D8BFDF-37E9-4F3D-8B91-6DBCC57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กล้องเดิม + Mini Hub</a:t>
            </a:r>
          </a:p>
        </p:txBody>
      </p:sp>
      <p:sp>
        <p:nvSpPr>
          <p:cNvPr id="7" name="r1">
            <a:extLst xmlns:a="http://schemas.openxmlformats.org/drawingml/2006/main">
              <a:ext uri="{FF2B5EF4-FFF2-40B4-BE49-F238E27FC236}">
                <a16:creationId xmlns:a16="http://schemas.microsoft.com/office/drawing/2014/main" id="{DD2CED83-8B45-4E11-A1E5-F9F4ED9D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10">
            <a:extLst xmlns:a="http://schemas.openxmlformats.org/drawingml/2006/main">
              <a:ext uri="{FF2B5EF4-FFF2-40B4-BE49-F238E27FC236}">
                <a16:creationId xmlns:a16="http://schemas.microsoft.com/office/drawing/2014/main" id="{BF7B160F-EEFC-424B-B291-E980187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เริ่มใช้งาน</a:t>
            </a:r>
          </a:p>
        </p:txBody>
      </p:sp>
      <p:sp>
        <p:nvSpPr>
          <p:cNvPr id="9" name="c11">
            <a:extLst xmlns:a="http://schemas.openxmlformats.org/drawingml/2006/main">
              <a:ext uri="{FF2B5EF4-FFF2-40B4-BE49-F238E27FC236}">
                <a16:creationId xmlns:a16="http://schemas.microsoft.com/office/drawing/2014/main" id="{5D0C6130-962B-4D97-A422-F04CB32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เร็ว ถ้า vendor พร้อม</a:t>
            </a:r>
          </a:p>
        </p:txBody>
      </p:sp>
      <p:sp>
        <p:nvSpPr>
          <p:cNvPr id="10" name="c12">
            <a:extLst xmlns:a="http://schemas.openxmlformats.org/drawingml/2006/main">
              <a:ext uri="{FF2B5EF4-FFF2-40B4-BE49-F238E27FC236}">
                <a16:creationId xmlns:a16="http://schemas.microsoft.com/office/drawing/2014/main" id="{19850CF1-36BE-4169-A120-734E993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ต้องพัฒนา edge software</a:t>
            </a:r>
          </a:p>
        </p:txBody>
      </p:sp>
      <p:sp>
        <p:nvSpPr>
          <p:cNvPr id="11" name="r2">
            <a:extLst xmlns:a="http://schemas.openxmlformats.org/drawingml/2006/main">
              <a:ext uri="{FF2B5EF4-FFF2-40B4-BE49-F238E27FC236}">
                <a16:creationId xmlns:a16="http://schemas.microsoft.com/office/drawing/2014/main" id="{979B16A0-E7B8-4F6A-AD2F-803DE50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20">
            <a:extLst xmlns:a="http://schemas.openxmlformats.org/drawingml/2006/main">
              <a:ext uri="{FF2B5EF4-FFF2-40B4-BE49-F238E27FC236}">
                <a16:creationId xmlns:a16="http://schemas.microsoft.com/office/drawing/2014/main" id="{52822A86-0EE0-4CE2-8502-8847CAB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ต้นทุน</a:t>
            </a:r>
          </a:p>
        </p:txBody>
      </p:sp>
      <p:sp>
        <p:nvSpPr>
          <p:cNvPr id="13" name="c21">
            <a:extLst xmlns:a="http://schemas.openxmlformats.org/drawingml/2006/main">
              <a:ext uri="{FF2B5EF4-FFF2-40B4-BE49-F238E27FC236}">
                <a16:creationId xmlns:a16="http://schemas.microsoft.com/office/drawing/2014/main" id="{5AEF39B4-98AE-4E55-A073-8B0E7AC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รายปีต่อกล้อง + traffic</a:t>
            </a:r>
          </a:p>
        </p:txBody>
      </p:sp>
      <p:sp>
        <p:nvSpPr>
          <p:cNvPr id="14" name="c22">
            <a:extLst xmlns:a="http://schemas.openxmlformats.org/drawingml/2006/main">
              <a:ext uri="{FF2B5EF4-FFF2-40B4-BE49-F238E27FC236}">
                <a16:creationId xmlns:a16="http://schemas.microsoft.com/office/drawing/2014/main" id="{596DE8F9-3755-45A4-8014-8AB9AF9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ครั้งเดียวต่อโรงแรม</a:t>
            </a:r>
          </a:p>
        </p:txBody>
      </p:sp>
      <p:sp>
        <p:nvSpPr>
          <p:cNvPr id="15" name="r3">
            <a:extLst xmlns:a="http://schemas.openxmlformats.org/drawingml/2006/main">
              <a:ext uri="{FF2B5EF4-FFF2-40B4-BE49-F238E27FC236}">
                <a16:creationId xmlns:a16="http://schemas.microsoft.com/office/drawing/2014/main" id="{35CB5B72-5F40-4E9C-8260-2E250EEE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30">
            <a:extLst xmlns:a="http://schemas.openxmlformats.org/drawingml/2006/main">
              <a:ext uri="{FF2B5EF4-FFF2-40B4-BE49-F238E27FC236}">
                <a16:creationId xmlns:a16="http://schemas.microsoft.com/office/drawing/2014/main" id="{BECB36FC-6501-454C-B9A5-6A655FED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ข้อมูลส่วนตัว</a:t>
            </a:r>
          </a:p>
        </p:txBody>
      </p:sp>
      <p:sp>
        <p:nvSpPr>
          <p:cNvPr id="17" name="c31">
            <a:extLst xmlns:a="http://schemas.openxmlformats.org/drawingml/2006/main">
              <a:ext uri="{FF2B5EF4-FFF2-40B4-BE49-F238E27FC236}">
                <a16:creationId xmlns:a16="http://schemas.microsoft.com/office/drawing/2014/main" id="{B6942D7E-E46D-4F89-8000-E1A768C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วิดีโอผ่าน cloud vendor</a:t>
            </a:r>
          </a:p>
        </p:txBody>
      </p:sp>
      <p:sp>
        <p:nvSpPr>
          <p:cNvPr id="18" name="c32">
            <a:extLst xmlns:a="http://schemas.openxmlformats.org/drawingml/2006/main">
              <a:ext uri="{FF2B5EF4-FFF2-40B4-BE49-F238E27FC236}">
                <a16:creationId xmlns:a16="http://schemas.microsoft.com/office/drawing/2014/main" id="{722E4EDA-A3FC-46E4-A1D1-F0D6A8E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ควบคุมเส้นทางได้มากกว่า</a:t>
            </a:r>
          </a:p>
        </p:txBody>
      </p:sp>
      <p:sp>
        <p:nvSpPr>
          <p:cNvPr id="19" name="r4">
            <a:extLst xmlns:a="http://schemas.openxmlformats.org/drawingml/2006/main">
              <a:ext uri="{FF2B5EF4-FFF2-40B4-BE49-F238E27FC236}">
                <a16:creationId xmlns:a16="http://schemas.microsoft.com/office/drawing/2014/main" id="{141B6924-8CD4-4EB4-A140-C0FF112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40">
            <a:extLst xmlns:a="http://schemas.openxmlformats.org/drawingml/2006/main">
              <a:ext uri="{FF2B5EF4-FFF2-40B4-BE49-F238E27FC236}">
                <a16:creationId xmlns:a16="http://schemas.microsoft.com/office/drawing/2014/main" id="{2A4D2485-712E-403A-A4B7-9527687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การผูกกับ vendor</a:t>
            </a:r>
          </a:p>
        </p:txBody>
      </p:sp>
      <p:sp>
        <p:nvSpPr>
          <p:cNvPr id="21" name="c41">
            <a:extLst xmlns:a="http://schemas.openxmlformats.org/drawingml/2006/main">
              <a:ext uri="{FF2B5EF4-FFF2-40B4-BE49-F238E27FC236}">
                <a16:creationId xmlns:a16="http://schemas.microsoft.com/office/drawing/2014/main" id="{B531D28E-066A-4335-8EEF-1F76F02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สูง</a:t>
            </a:r>
          </a:p>
        </p:txBody>
      </p:sp>
      <p:sp>
        <p:nvSpPr>
          <p:cNvPr id="22" name="c42">
            <a:extLst xmlns:a="http://schemas.openxmlformats.org/drawingml/2006/main">
              <a:ext uri="{FF2B5EF4-FFF2-40B4-BE49-F238E27FC236}">
                <a16:creationId xmlns:a16="http://schemas.microsoft.com/office/drawing/2014/main" id="{5430DE1A-54AD-410E-A67D-63541FA6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ต่ำกว่า</a:t>
            </a:r>
          </a:p>
        </p:txBody>
      </p:sp>
      <p:sp>
        <p:nvSpPr>
          <p:cNvPr id="23" name="r5">
            <a:extLst xmlns:a="http://schemas.openxmlformats.org/drawingml/2006/main">
              <a:ext uri="{FF2B5EF4-FFF2-40B4-BE49-F238E27FC236}">
                <a16:creationId xmlns:a16="http://schemas.microsoft.com/office/drawing/2014/main" id="{C60EB68B-1064-43A9-9906-44F8F9B9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50">
            <a:extLst xmlns:a="http://schemas.openxmlformats.org/drawingml/2006/main">
              <a:ext uri="{FF2B5EF4-FFF2-40B4-BE49-F238E27FC236}">
                <a16:creationId xmlns:a16="http://schemas.microsoft.com/office/drawing/2014/main" id="{5A00E951-F22C-437F-AC90-6C383DD1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คำแนะนำ</a:t>
            </a:r>
          </a:p>
        </p:txBody>
      </p:sp>
      <p:sp>
        <p:nvSpPr>
          <p:cNvPr id="25" name="c51">
            <a:extLst xmlns:a="http://schemas.openxmlformats.org/drawingml/2006/main">
              <a:ext uri="{FF2B5EF4-FFF2-40B4-BE49-F238E27FC236}">
                <a16:creationId xmlns:a16="http://schemas.microsoft.com/office/drawing/2014/main" id="{5657624F-B805-46FA-9090-7A058047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ใช้เฉพาะ pilot เร่งด่วน</a:t>
            </a:r>
          </a:p>
        </p:txBody>
      </p:sp>
      <p:sp>
        <p:nvSpPr>
          <p:cNvPr id="26" name="c52">
            <a:extLst xmlns:a="http://schemas.openxmlformats.org/drawingml/2006/main">
              <a:ext uri="{FF2B5EF4-FFF2-40B4-BE49-F238E27FC236}">
                <a16:creationId xmlns:a16="http://schemas.microsoft.com/office/drawing/2014/main" id="{14D9675A-A4DE-4BAE-A478-022ECBE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แผนหลักระยะยาว</a:t>
            </a:r>
          </a:p>
        </p:txBody>
      </p:sp>
      <p:sp>
        <p:nvSpPr>
          <p:cNvPr id="27" name="src">
            <a:extLst xmlns:a="http://schemas.openxmlformats.org/drawingml/2006/main">
              <a:ext uri="{FF2B5EF4-FFF2-40B4-BE49-F238E27FC236}">
                <a16:creationId xmlns:a16="http://schemas.microsoft.com/office/drawing/2014/main" id="{81D2ECDC-4089-4534-8111-1F736B7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ตัวเลข vendor/cloud ต้องขอ quotation ก่อนตัดสินใจ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8A479892-5C26-49B6-BD98-6B46464F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115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604C1ADA-0945-44F4-9687-AD5BC0D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F5C63A-9CF4-4C7B-A11E-9F0E19A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สิ่งที่ยังต้องปิดก่อน Production มี 6 เรื่อง</a:t>
            </a:r>
          </a:p>
        </p:txBody>
      </p:sp>
      <p:sp>
        <p:nvSpPr>
          <p:cNvPr id="3" name="q0">
            <a:extLst xmlns:a="http://schemas.openxmlformats.org/drawingml/2006/main">
              <a:ext uri="{FF2B5EF4-FFF2-40B4-BE49-F238E27FC236}">
                <a16:creationId xmlns:a16="http://schemas.microsoft.com/office/drawing/2014/main" id="{0EC374CF-4B94-4FEE-80D5-75162FF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q0a">
            <a:extLst xmlns:a="http://schemas.openxmlformats.org/drawingml/2006/main">
              <a:ext uri="{FF2B5EF4-FFF2-40B4-BE49-F238E27FC236}">
                <a16:creationId xmlns:a16="http://schemas.microsoft.com/office/drawing/2014/main" id="{CC489294-77C2-4E15-9648-BE34EEC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0h">
            <a:extLst xmlns:a="http://schemas.openxmlformats.org/drawingml/2006/main">
              <a:ext uri="{FF2B5EF4-FFF2-40B4-BE49-F238E27FC236}">
                <a16:creationId xmlns:a16="http://schemas.microsoft.com/office/drawing/2014/main" id="{D3066D04-9853-47D8-A15B-A99A7E8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Payment</a:t>
            </a:r>
          </a:p>
        </p:txBody>
      </p:sp>
      <p:sp>
        <p:nvSpPr>
          <p:cNvPr id="6" name="q0b">
            <a:extLst xmlns:a="http://schemas.openxmlformats.org/drawingml/2006/main">
              <a:ext uri="{FF2B5EF4-FFF2-40B4-BE49-F238E27FC236}">
                <a16:creationId xmlns:a16="http://schemas.microsoft.com/office/drawing/2014/main" id="{2D293673-26A0-4B4F-B08E-9FC5522B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idempotency, reconciliation, alert</a:t>
            </a:r>
          </a:p>
        </p:txBody>
      </p:sp>
      <p:sp>
        <p:nvSpPr>
          <p:cNvPr id="7" name="q1">
            <a:extLst xmlns:a="http://schemas.openxmlformats.org/drawingml/2006/main">
              <a:ext uri="{FF2B5EF4-FFF2-40B4-BE49-F238E27FC236}">
                <a16:creationId xmlns:a16="http://schemas.microsoft.com/office/drawing/2014/main" id="{B400F185-01F8-4026-801D-8666A12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8" name="q1a">
            <a:extLst xmlns:a="http://schemas.openxmlformats.org/drawingml/2006/main">
              <a:ext uri="{FF2B5EF4-FFF2-40B4-BE49-F238E27FC236}">
                <a16:creationId xmlns:a16="http://schemas.microsoft.com/office/drawing/2014/main" id="{CCDBFC06-8A1F-49B6-A065-1318F158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1h">
            <a:extLst xmlns:a="http://schemas.openxmlformats.org/drawingml/2006/main">
              <a:ext uri="{FF2B5EF4-FFF2-40B4-BE49-F238E27FC236}">
                <a16:creationId xmlns:a16="http://schemas.microsoft.com/office/drawing/2014/main" id="{3979ACAC-3F9C-4415-B92A-949127D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Camera</a:t>
            </a:r>
          </a:p>
        </p:txBody>
      </p:sp>
      <p:sp>
        <p:nvSpPr>
          <p:cNvPr id="10" name="q1b">
            <a:extLst xmlns:a="http://schemas.openxmlformats.org/drawingml/2006/main">
              <a:ext uri="{FF2B5EF4-FFF2-40B4-BE49-F238E27FC236}">
                <a16:creationId xmlns:a16="http://schemas.microsoft.com/office/drawing/2014/main" id="{A8598D8C-1958-4294-9A01-C707588B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Mini Hub pilot และ credential redesign</a:t>
            </a:r>
          </a:p>
        </p:txBody>
      </p:sp>
      <p:sp>
        <p:nvSpPr>
          <p:cNvPr id="11" name="q2">
            <a:extLst xmlns:a="http://schemas.openxmlformats.org/drawingml/2006/main">
              <a:ext uri="{FF2B5EF4-FFF2-40B4-BE49-F238E27FC236}">
                <a16:creationId xmlns:a16="http://schemas.microsoft.com/office/drawing/2014/main" id="{CB634959-BA7A-44A4-A09B-60AD5436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2" name="q2a">
            <a:extLst xmlns:a="http://schemas.openxmlformats.org/drawingml/2006/main">
              <a:ext uri="{FF2B5EF4-FFF2-40B4-BE49-F238E27FC236}">
                <a16:creationId xmlns:a16="http://schemas.microsoft.com/office/drawing/2014/main" id="{B96DF56C-5348-4B56-A884-EF0E4DB0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2h">
            <a:extLst xmlns:a="http://schemas.openxmlformats.org/drawingml/2006/main">
              <a:ext uri="{FF2B5EF4-FFF2-40B4-BE49-F238E27FC236}">
                <a16:creationId xmlns:a16="http://schemas.microsoft.com/office/drawing/2014/main" id="{647EA4A5-D521-41A0-997D-C4B51D09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Security</a:t>
            </a:r>
          </a:p>
        </p:txBody>
      </p:sp>
      <p:sp>
        <p:nvSpPr>
          <p:cNvPr id="14" name="q2b">
            <a:extLst xmlns:a="http://schemas.openxmlformats.org/drawingml/2006/main">
              <a:ext uri="{FF2B5EF4-FFF2-40B4-BE49-F238E27FC236}">
                <a16:creationId xmlns:a16="http://schemas.microsoft.com/office/drawing/2014/main" id="{67C4C94A-A536-458C-BC2E-8432FC3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เปลี่ยน secrets, TLS และ key rotation</a:t>
            </a:r>
          </a:p>
        </p:txBody>
      </p:sp>
      <p:sp>
        <p:nvSpPr>
          <p:cNvPr id="15" name="q3">
            <a:extLst xmlns:a="http://schemas.openxmlformats.org/drawingml/2006/main">
              <a:ext uri="{FF2B5EF4-FFF2-40B4-BE49-F238E27FC236}">
                <a16:creationId xmlns:a16="http://schemas.microsoft.com/office/drawing/2014/main" id="{46DA1E3F-2C0E-408E-B6A3-737B41AD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6" name="q3a">
            <a:extLst xmlns:a="http://schemas.openxmlformats.org/drawingml/2006/main">
              <a:ext uri="{FF2B5EF4-FFF2-40B4-BE49-F238E27FC236}">
                <a16:creationId xmlns:a16="http://schemas.microsoft.com/office/drawing/2014/main" id="{C2451813-AE2B-44ED-AEE0-75D2A10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3h">
            <a:extLst xmlns:a="http://schemas.openxmlformats.org/drawingml/2006/main">
              <a:ext uri="{FF2B5EF4-FFF2-40B4-BE49-F238E27FC236}">
                <a16:creationId xmlns:a16="http://schemas.microsoft.com/office/drawing/2014/main" id="{47726698-8B38-4DD6-913E-49B73C53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Operations</a:t>
            </a:r>
          </a:p>
        </p:txBody>
      </p:sp>
      <p:sp>
        <p:nvSpPr>
          <p:cNvPr id="18" name="q3b">
            <a:extLst xmlns:a="http://schemas.openxmlformats.org/drawingml/2006/main">
              <a:ext uri="{FF2B5EF4-FFF2-40B4-BE49-F238E27FC236}">
                <a16:creationId xmlns:a16="http://schemas.microsoft.com/office/drawing/2014/main" id="{A571FCE2-B290-4F30-8CBB-5225DB5C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monitoring, backup และ incident owner</a:t>
            </a:r>
          </a:p>
        </p:txBody>
      </p:sp>
      <p:sp>
        <p:nvSpPr>
          <p:cNvPr id="19" name="q4">
            <a:extLst xmlns:a="http://schemas.openxmlformats.org/drawingml/2006/main">
              <a:ext uri="{FF2B5EF4-FFF2-40B4-BE49-F238E27FC236}">
                <a16:creationId xmlns:a16="http://schemas.microsoft.com/office/drawing/2014/main" id="{AD0E4299-38FD-462A-87C2-0A8496C9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20" name="q4a">
            <a:extLst xmlns:a="http://schemas.openxmlformats.org/drawingml/2006/main">
              <a:ext uri="{FF2B5EF4-FFF2-40B4-BE49-F238E27FC236}">
                <a16:creationId xmlns:a16="http://schemas.microsoft.com/office/drawing/2014/main" id="{707B5668-B201-408A-B8A6-660C2BE4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q4h">
            <a:extLst xmlns:a="http://schemas.openxmlformats.org/drawingml/2006/main">
              <a:ext uri="{FF2B5EF4-FFF2-40B4-BE49-F238E27FC236}">
                <a16:creationId xmlns:a16="http://schemas.microsoft.com/office/drawing/2014/main" id="{45DD7022-9CBE-460F-AEA3-05DFFBB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Store</a:t>
            </a:r>
          </a:p>
        </p:txBody>
      </p:sp>
      <p:sp>
        <p:nvSpPr>
          <p:cNvPr id="22" name="q4b">
            <a:extLst xmlns:a="http://schemas.openxmlformats.org/drawingml/2006/main">
              <a:ext uri="{FF2B5EF4-FFF2-40B4-BE49-F238E27FC236}">
                <a16:creationId xmlns:a16="http://schemas.microsoft.com/office/drawing/2014/main" id="{79A0ECD8-8CB2-4F65-BD58-9C5E516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Apple/Google account และ submission</a:t>
            </a:r>
          </a:p>
        </p:txBody>
      </p:sp>
      <p:sp>
        <p:nvSpPr>
          <p:cNvPr id="23" name="q5">
            <a:extLst xmlns:a="http://schemas.openxmlformats.org/drawingml/2006/main">
              <a:ext uri="{FF2B5EF4-FFF2-40B4-BE49-F238E27FC236}">
                <a16:creationId xmlns:a16="http://schemas.microsoft.com/office/drawing/2014/main" id="{6A534E8C-59AE-466F-B22D-B5358E5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5410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24" name="q5a">
            <a:extLst xmlns:a="http://schemas.openxmlformats.org/drawingml/2006/main">
              <a:ext uri="{FF2B5EF4-FFF2-40B4-BE49-F238E27FC236}">
                <a16:creationId xmlns:a16="http://schemas.microsoft.com/office/drawing/2014/main" id="{77EF9607-A64C-4409-AE3B-E42C5C3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5h">
            <a:extLst xmlns:a="http://schemas.openxmlformats.org/drawingml/2006/main">
              <a:ext uri="{FF2B5EF4-FFF2-40B4-BE49-F238E27FC236}">
                <a16:creationId xmlns:a16="http://schemas.microsoft.com/office/drawing/2014/main" id="{EA61D8E3-1912-40EE-9081-12F222BE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QA</a:t>
            </a:r>
          </a:p>
        </p:txBody>
      </p:sp>
      <p:sp>
        <p:nvSpPr>
          <p:cNvPr id="26" name="q5b">
            <a:extLst xmlns:a="http://schemas.openxmlformats.org/drawingml/2006/main">
              <a:ext uri="{FF2B5EF4-FFF2-40B4-BE49-F238E27FC236}">
                <a16:creationId xmlns:a16="http://schemas.microsoft.com/office/drawing/2014/main" id="{F81A8CE9-46B3-492F-BB45-4DBA154A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00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อุปกรณ์จริง, network จริง, regression test</a:t>
            </a:r>
          </a:p>
        </p:txBody>
      </p:sp>
      <p:sp>
        <p:nvSpPr>
          <p:cNvPr id="27" name="src">
            <a:extLst xmlns:a="http://schemas.openxmlformats.org/drawingml/2006/main">
              <a:ext uri="{FF2B5EF4-FFF2-40B4-BE49-F238E27FC236}">
                <a16:creationId xmlns:a16="http://schemas.microsoft.com/office/drawing/2014/main" id="{82915826-86A6-4CE0-8857-AD49CAF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สรุปจาก README production checklist และ Tech Handoff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CBEAB049-60B2-484C-B3BB-214A330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1292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717D7721-957D-4254-B6C0-9EFD65A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2CABB2-ECBD-4E63-A21A-08326F73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ต้นทุนแบ่งเป็น 4 ก้อน — เพื่อให้เห็นว่าเงินใช้ไปกับอะไร</a:t>
            </a:r>
          </a:p>
        </p:txBody>
      </p:sp>
      <p:sp>
        <p:nvSpPr>
          <p:cNvPr id="3" name="cost0">
            <a:extLst xmlns:a="http://schemas.openxmlformats.org/drawingml/2006/main">
              <a:ext uri="{FF2B5EF4-FFF2-40B4-BE49-F238E27FC236}">
                <a16:creationId xmlns:a16="http://schemas.microsoft.com/office/drawing/2014/main" id="{B1016363-2C10-4150-A6A9-901481F9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cost0a">
            <a:extLst xmlns:a="http://schemas.openxmlformats.org/drawingml/2006/main">
              <a:ext uri="{FF2B5EF4-FFF2-40B4-BE49-F238E27FC236}">
                <a16:creationId xmlns:a16="http://schemas.microsoft.com/office/drawing/2014/main" id="{94F71EA8-BD73-4BBD-9F96-3BF3B2A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st0h">
            <a:extLst xmlns:a="http://schemas.openxmlformats.org/drawingml/2006/main">
              <a:ext uri="{FF2B5EF4-FFF2-40B4-BE49-F238E27FC236}">
                <a16:creationId xmlns:a16="http://schemas.microsoft.com/office/drawing/2014/main" id="{3DD3E687-1E45-42DD-B301-3FA33702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เปิดระบบ</a:t>
            </a:r>
          </a:p>
        </p:txBody>
      </p:sp>
      <p:sp>
        <p:nvSpPr>
          <p:cNvPr id="6" name="cost0st">
            <a:extLst xmlns:a="http://schemas.openxmlformats.org/drawingml/2006/main">
              <a:ext uri="{FF2B5EF4-FFF2-40B4-BE49-F238E27FC236}">
                <a16:creationId xmlns:a16="http://schemas.microsoft.com/office/drawing/2014/main" id="{C49878D5-CCB5-419B-8CED-1FA385D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19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rPr>
              <a:t>~11,100 บาทปีแรก</a:t>
            </a:r>
          </a:p>
        </p:txBody>
      </p:sp>
      <p:sp>
        <p:nvSpPr>
          <p:cNvPr id="7" name="cost0b">
            <a:extLst xmlns:a="http://schemas.openxmlformats.org/drawingml/2006/main">
              <a:ext uri="{FF2B5EF4-FFF2-40B4-BE49-F238E27FC236}">
                <a16:creationId xmlns:a16="http://schemas.microsoft.com/office/drawing/2014/main" id="{E25FD44B-F83D-47EA-B308-F2E06F3A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2095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VPS + Apple + Google</a:t>
            </a:r>
          </a:p>
        </p:txBody>
      </p:sp>
      <p:sp>
        <p:nvSpPr>
          <p:cNvPr id="8" name="cost1">
            <a:extLst xmlns:a="http://schemas.openxmlformats.org/drawingml/2006/main">
              <a:ext uri="{FF2B5EF4-FFF2-40B4-BE49-F238E27FC236}">
                <a16:creationId xmlns:a16="http://schemas.microsoft.com/office/drawing/2014/main" id="{90507CF7-BBB1-4823-91D2-50ECFEAA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cost1a">
            <a:extLst xmlns:a="http://schemas.openxmlformats.org/drawingml/2006/main">
              <a:ext uri="{FF2B5EF4-FFF2-40B4-BE49-F238E27FC236}">
                <a16:creationId xmlns:a16="http://schemas.microsoft.com/office/drawing/2014/main" id="{8774D6D2-F3A5-4F60-82FB-4A3DED0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st1h">
            <a:extLst xmlns:a="http://schemas.openxmlformats.org/drawingml/2006/main">
              <a:ext uri="{FF2B5EF4-FFF2-40B4-BE49-F238E27FC236}">
                <a16:creationId xmlns:a16="http://schemas.microsoft.com/office/drawing/2014/main" id="{174B9283-E341-4261-B7F8-E6F078D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ดูแลต่อเนื่อง</a:t>
            </a:r>
          </a:p>
        </p:txBody>
      </p:sp>
      <p:sp>
        <p:nvSpPr>
          <p:cNvPr id="11" name="cost1st">
            <a:extLst xmlns:a="http://schemas.openxmlformats.org/drawingml/2006/main">
              <a:ext uri="{FF2B5EF4-FFF2-40B4-BE49-F238E27FC236}">
                <a16:creationId xmlns:a16="http://schemas.microsoft.com/office/drawing/2014/main" id="{ECEF98FB-8B85-4B7E-8360-8219A7CE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74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rPr>
              <a:t>2,000–8,000+ /เดือน</a:t>
            </a:r>
          </a:p>
        </p:txBody>
      </p:sp>
      <p:sp>
        <p:nvSpPr>
          <p:cNvPr id="12" name="cost1b">
            <a:extLst xmlns:a="http://schemas.openxmlformats.org/drawingml/2006/main">
              <a:ext uri="{FF2B5EF4-FFF2-40B4-BE49-F238E27FC236}">
                <a16:creationId xmlns:a16="http://schemas.microsoft.com/office/drawing/2014/main" id="{ECD17664-4B99-4BA2-9950-4E92C73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095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Maintenance ตามระดับบริการ</a:t>
            </a:r>
          </a:p>
        </p:txBody>
      </p:sp>
      <p:sp>
        <p:nvSpPr>
          <p:cNvPr id="13" name="cost2">
            <a:extLst xmlns:a="http://schemas.openxmlformats.org/drawingml/2006/main">
              <a:ext uri="{FF2B5EF4-FFF2-40B4-BE49-F238E27FC236}">
                <a16:creationId xmlns:a16="http://schemas.microsoft.com/office/drawing/2014/main" id="{5E1632E8-AE8F-409D-8106-520D51E9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4" name="cost2a">
            <a:extLst xmlns:a="http://schemas.openxmlformats.org/drawingml/2006/main">
              <a:ext uri="{FF2B5EF4-FFF2-40B4-BE49-F238E27FC236}">
                <a16:creationId xmlns:a16="http://schemas.microsoft.com/office/drawing/2014/main" id="{F0DBE1E3-B7AB-4B5E-BFCD-2E0DD34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st2h">
            <a:extLst xmlns:a="http://schemas.openxmlformats.org/drawingml/2006/main">
              <a:ext uri="{FF2B5EF4-FFF2-40B4-BE49-F238E27FC236}">
                <a16:creationId xmlns:a16="http://schemas.microsoft.com/office/drawing/2014/main" id="{B090F003-635B-403A-B2BF-BC6C119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ตามยอดขาย</a:t>
            </a:r>
          </a:p>
        </p:txBody>
      </p:sp>
      <p:sp>
        <p:nvSpPr>
          <p:cNvPr id="16" name="cost2st">
            <a:extLst xmlns:a="http://schemas.openxmlformats.org/drawingml/2006/main">
              <a:ext uri="{FF2B5EF4-FFF2-40B4-BE49-F238E27FC236}">
                <a16:creationId xmlns:a16="http://schemas.microsoft.com/office/drawing/2014/main" id="{E168C7F4-6AB5-4EC6-89F7-5D18819A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1.7655–3.9055%</a:t>
            </a:r>
          </a:p>
        </p:txBody>
      </p:sp>
      <p:sp>
        <p:nvSpPr>
          <p:cNvPr id="17" name="cost2b">
            <a:extLst xmlns:a="http://schemas.openxmlformats.org/drawingml/2006/main">
              <a:ext uri="{FF2B5EF4-FFF2-40B4-BE49-F238E27FC236}">
                <a16:creationId xmlns:a16="http://schemas.microsoft.com/office/drawing/2014/main" id="{575EEA71-2C43-4C6E-AE94-FDA1747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2095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Omise + ค่าโอนธนาคาร</a:t>
            </a:r>
          </a:p>
        </p:txBody>
      </p:sp>
      <p:sp>
        <p:nvSpPr>
          <p:cNvPr id="18" name="cost3">
            <a:extLst xmlns:a="http://schemas.openxmlformats.org/drawingml/2006/main">
              <a:ext uri="{FF2B5EF4-FFF2-40B4-BE49-F238E27FC236}">
                <a16:creationId xmlns:a16="http://schemas.microsoft.com/office/drawing/2014/main" id="{0A0CC8FE-375C-4507-A183-A8ACB08E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571750" cy="3429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9" name="cost3a">
            <a:extLst xmlns:a="http://schemas.openxmlformats.org/drawingml/2006/main">
              <a:ext uri="{FF2B5EF4-FFF2-40B4-BE49-F238E27FC236}">
                <a16:creationId xmlns:a16="http://schemas.microsoft.com/office/drawing/2014/main" id="{641DEDB5-ED64-451F-ACE6-33AEA0E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st3h">
            <a:extLst xmlns:a="http://schemas.openxmlformats.org/drawingml/2006/main">
              <a:ext uri="{FF2B5EF4-FFF2-40B4-BE49-F238E27FC236}">
                <a16:creationId xmlns:a16="http://schemas.microsoft.com/office/drawing/2014/main" id="{CD79F712-1691-469D-9C04-0609886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ต่อโรงแรม</a:t>
            </a:r>
          </a:p>
        </p:txBody>
      </p:sp>
      <p:sp>
        <p:nvSpPr>
          <p:cNvPr id="21" name="cost3st">
            <a:extLst xmlns:a="http://schemas.openxmlformats.org/drawingml/2006/main">
              <a:ext uri="{FF2B5EF4-FFF2-40B4-BE49-F238E27FC236}">
                <a16:creationId xmlns:a16="http://schemas.microsoft.com/office/drawing/2014/main" id="{462FBF32-334A-4C5B-AF25-88F397E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44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กล้อง 700–1,000/ตัว</a:t>
            </a:r>
          </a:p>
        </p:txBody>
      </p:sp>
      <p:sp>
        <p:nvSpPr>
          <p:cNvPr id="22" name="cost3b">
            <a:extLst xmlns:a="http://schemas.openxmlformats.org/drawingml/2006/main">
              <a:ext uri="{FF2B5EF4-FFF2-40B4-BE49-F238E27FC236}">
                <a16:creationId xmlns:a16="http://schemas.microsoft.com/office/drawing/2014/main" id="{E0371022-B155-4914-A53E-A70AA011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2095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Mini Hub 1,500–3,000/แห่ง</a:t>
            </a:r>
          </a:p>
        </p:txBody>
      </p:sp>
      <p:sp>
        <p:nvSpPr>
          <p:cNvPr id="23" name="cap">
            <a:extLst xmlns:a="http://schemas.openxmlformats.org/drawingml/2006/main">
              <a:ext uri="{FF2B5EF4-FFF2-40B4-BE49-F238E27FC236}">
                <a16:creationId xmlns:a16="http://schemas.microsoft.com/office/drawing/2014/main" id="{9A6CA52C-C442-4618-9DE4-62461A17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ต้นทุนเหล่านี้ควรแยกจากค่าแรงพัฒนา 20,000 บาท เพื่อไม่ให้การดูแลระบบหลังส่งมอบถูกนับซ้อน</a:t>
            </a:r>
          </a:p>
        </p:txBody>
      </p:sp>
      <p:sp>
        <p:nvSpPr>
          <p:cNvPr id="24" name="src">
            <a:extLst xmlns:a="http://schemas.openxmlformats.org/drawingml/2006/main">
              <a:ext uri="{FF2B5EF4-FFF2-40B4-BE49-F238E27FC236}">
                <a16:creationId xmlns:a16="http://schemas.microsoft.com/office/drawing/2014/main" id="{5154BDAD-F7D7-413F-A6B4-CDD1486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PetPal_Cost_Report.pdf — ตัวเลขอุปกรณ์/VPS เป็นประมาณการ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2F903A2E-2585-4B1D-AF50-546CD6D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18053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17F91CCA-2A55-459B-89B1-CDD55CFA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0FB47F-47D3-4DBA-837F-FF2D7DB5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ตัวอย่างยอดจอง 2,000 บาท: PromptPay ช่วยลดต้นทุนได้ชัดเจน</a:t>
            </a:r>
          </a:p>
        </p:txBody>
      </p:sp>
      <p:sp>
        <p:nvSpPr>
          <p:cNvPr id="3" name="f1">
            <a:extLst xmlns:a="http://schemas.openxmlformats.org/drawingml/2006/main">
              <a:ext uri="{FF2B5EF4-FFF2-40B4-BE49-F238E27FC236}">
                <a16:creationId xmlns:a16="http://schemas.microsoft.com/office/drawing/2014/main" id="{D11934B5-91E6-4D9E-8FC3-4D294204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f1a">
            <a:extLst xmlns:a="http://schemas.openxmlformats.org/drawingml/2006/main">
              <a:ext uri="{FF2B5EF4-FFF2-40B4-BE49-F238E27FC236}">
                <a16:creationId xmlns:a16="http://schemas.microsoft.com/office/drawing/2014/main" id="{62DB08D1-5F40-49BC-80EB-BB6F0A82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1h">
            <a:extLst xmlns:a="http://schemas.openxmlformats.org/drawingml/2006/main">
              <a:ext uri="{FF2B5EF4-FFF2-40B4-BE49-F238E27FC236}">
                <a16:creationId xmlns:a16="http://schemas.microsoft.com/office/drawing/2014/main" id="{65121C52-2E74-4A71-AE92-871D1DC9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PromptPay</a:t>
            </a:r>
          </a:p>
        </p:txBody>
      </p:sp>
      <p:sp>
        <p:nvSpPr>
          <p:cNvPr id="6" name="f1st">
            <a:extLst xmlns:a="http://schemas.openxmlformats.org/drawingml/2006/main">
              <a:ext uri="{FF2B5EF4-FFF2-40B4-BE49-F238E27FC236}">
                <a16:creationId xmlns:a16="http://schemas.microsoft.com/office/drawing/2014/main" id="{555B5955-C7F7-4CE0-9B79-69E5528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25A56A"/>
                </a:solidFill>
                <a:latin typeface="Noto Sans Thai"/>
                <a:ea typeface="Noto Sans Thai"/>
                <a:cs typeface="Noto Sans Thai"/>
              </a:rPr>
              <a:t>35.31 บาท</a:t>
            </a:r>
          </a:p>
        </p:txBody>
      </p:sp>
      <p:sp>
        <p:nvSpPr>
          <p:cNvPr id="7" name="f1b">
            <a:extLst xmlns:a="http://schemas.openxmlformats.org/drawingml/2006/main">
              <a:ext uri="{FF2B5EF4-FFF2-40B4-BE49-F238E27FC236}">
                <a16:creationId xmlns:a16="http://schemas.microsoft.com/office/drawing/2014/main" id="{5E758FBD-8C03-4047-B7D6-FAA0699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000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ค่าธรรมเนียมรวม 35.31 บาท</a:t>
            </a:r>
          </a:p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เงินคงเหลือก่อนค่าโอน 1,964.69 บาท</a:t>
            </a:r>
          </a:p>
        </p:txBody>
      </p:sp>
      <p:sp>
        <p:nvSpPr>
          <p:cNvPr id="8" name="f2">
            <a:extLst xmlns:a="http://schemas.openxmlformats.org/drawingml/2006/main">
              <a:ext uri="{FF2B5EF4-FFF2-40B4-BE49-F238E27FC236}">
                <a16:creationId xmlns:a16="http://schemas.microsoft.com/office/drawing/2014/main" id="{F9CAF917-4891-4591-AFA9-591152D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9" name="f2a">
            <a:extLst xmlns:a="http://schemas.openxmlformats.org/drawingml/2006/main">
              <a:ext uri="{FF2B5EF4-FFF2-40B4-BE49-F238E27FC236}">
                <a16:creationId xmlns:a16="http://schemas.microsoft.com/office/drawing/2014/main" id="{34B9D183-2EF3-4A82-BDD2-C98E741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2h">
            <a:extLst xmlns:a="http://schemas.openxmlformats.org/drawingml/2006/main">
              <a:ext uri="{FF2B5EF4-FFF2-40B4-BE49-F238E27FC236}">
                <a16:creationId xmlns:a16="http://schemas.microsoft.com/office/drawing/2014/main" id="{731B2212-1D48-426A-A5DD-B84BFCF9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บัตร</a:t>
            </a:r>
          </a:p>
        </p:txBody>
      </p:sp>
      <p:sp>
        <p:nvSpPr>
          <p:cNvPr id="11" name="f2st">
            <a:extLst xmlns:a="http://schemas.openxmlformats.org/drawingml/2006/main">
              <a:ext uri="{FF2B5EF4-FFF2-40B4-BE49-F238E27FC236}">
                <a16:creationId xmlns:a16="http://schemas.microsoft.com/office/drawing/2014/main" id="{DC78FAF3-3395-4782-82B1-CFBC860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78.11 บาท</a:t>
            </a:r>
          </a:p>
        </p:txBody>
      </p:sp>
      <p:sp>
        <p:nvSpPr>
          <p:cNvPr id="12" name="f2b">
            <a:extLst xmlns:a="http://schemas.openxmlformats.org/drawingml/2006/main">
              <a:ext uri="{FF2B5EF4-FFF2-40B4-BE49-F238E27FC236}">
                <a16:creationId xmlns:a16="http://schemas.microsoft.com/office/drawing/2014/main" id="{9555EF9D-861D-41A9-A3B1-F22DD06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4000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ค่าธรรมเนียมรวม 78.11 บาท</a:t>
            </a:r>
          </a:p>
          <a:p xmlns:a="http://schemas.openxmlformats.org/drawingml/2006/main">
            <a:pPr algn="l">
              <a:def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เงินคงเหลือก่อนค่าโอน 1,921.89 บาท</a:t>
            </a:r>
          </a:p>
        </p:txBody>
      </p:sp>
      <p:sp>
        <p:nvSpPr>
          <p:cNvPr id="13" name="diff">
            <a:extLst xmlns:a="http://schemas.openxmlformats.org/drawingml/2006/main">
              <a:ext uri="{FF2B5EF4-FFF2-40B4-BE49-F238E27FC236}">
                <a16:creationId xmlns:a16="http://schemas.microsoft.com/office/drawing/2014/main" id="{D69CF66E-8987-4295-96B3-E4A898BF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7B3F1D"/>
                </a:solidFill>
                <a:latin typeface="Noto Sans Thai"/>
                <a:ea typeface="Noto Sans Thai"/>
                <a:cs typeface="Noto Sans Thai"/>
              </a:rPr>
              <a:t>PromptPay ประหยัดกว่าบัตรประมาณ 42.80 บาทต่อ booking</a:t>
            </a:r>
          </a:p>
        </p:txBody>
      </p:sp>
      <p:sp>
        <p:nvSpPr>
          <p:cNvPr id="14" name="src">
            <a:extLst xmlns:a="http://schemas.openxmlformats.org/drawingml/2006/main">
              <a:ext uri="{FF2B5EF4-FFF2-40B4-BE49-F238E27FC236}">
                <a16:creationId xmlns:a16="http://schemas.microsoft.com/office/drawing/2014/main" id="{8F55A69C-82B0-40C1-A34E-E32DDFA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สูตร: ยอดชำระ × rate × 1.07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00C4CCDB-73C3-4713-B6ED-44DF195C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9684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CB57758-4D70-4F90-9D46-D218A18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BF23FC-4378-4CCC-B972-D0C46ED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แผน 90 วัน: ทำให้ระบบพร้อมใช้งานจริงก่อนขยาย</a:t>
            </a:r>
          </a:p>
        </p:txBody>
      </p:sp>
      <p:sp>
        <p:nvSpPr>
          <p:cNvPr id="3" name="ph0">
            <a:extLst xmlns:a="http://schemas.openxmlformats.org/drawingml/2006/main">
              <a:ext uri="{FF2B5EF4-FFF2-40B4-BE49-F238E27FC236}">
                <a16:creationId xmlns:a16="http://schemas.microsoft.com/office/drawing/2014/main" id="{3CD9CC04-CF90-400B-82E1-1E84D49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4" name="pd0">
            <a:extLst xmlns:a="http://schemas.openxmlformats.org/drawingml/2006/main">
              <a:ext uri="{FF2B5EF4-FFF2-40B4-BE49-F238E27FC236}">
                <a16:creationId xmlns:a16="http://schemas.microsoft.com/office/drawing/2014/main" id="{E4E8DF27-360C-46B2-90D3-34409CD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0–30 วัน</a:t>
            </a:r>
          </a:p>
        </p:txBody>
      </p:sp>
      <p:sp>
        <p:nvSpPr>
          <p:cNvPr id="5" name="pt0">
            <a:extLst xmlns:a="http://schemas.openxmlformats.org/drawingml/2006/main">
              <a:ext uri="{FF2B5EF4-FFF2-40B4-BE49-F238E27FC236}">
                <a16:creationId xmlns:a16="http://schemas.microsoft.com/office/drawing/2014/main" id="{A936B4FD-FA40-4B34-8759-800B8D03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Payment hardening</a:t>
            </a:r>
          </a:p>
        </p:txBody>
      </p:sp>
      <p:sp>
        <p:nvSpPr>
          <p:cNvPr id="6" name="pb0">
            <a:extLst xmlns:a="http://schemas.openxmlformats.org/drawingml/2006/main">
              <a:ext uri="{FF2B5EF4-FFF2-40B4-BE49-F238E27FC236}">
                <a16:creationId xmlns:a16="http://schemas.microsoft.com/office/drawing/2014/main" id="{18F2E14B-2653-4085-83E4-D5E0C2A5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ทดสอบ charge/webhook/refund/settlement และจัดบัญชี</a:t>
            </a:r>
          </a:p>
        </p:txBody>
      </p:sp>
      <p:sp>
        <p:nvSpPr>
          <p:cNvPr id="7" name="ph1">
            <a:extLst xmlns:a="http://schemas.openxmlformats.org/drawingml/2006/main">
              <a:ext uri="{FF2B5EF4-FFF2-40B4-BE49-F238E27FC236}">
                <a16:creationId xmlns:a16="http://schemas.microsoft.com/office/drawing/2014/main" id="{7F80904D-CAF2-48EC-A074-5857039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05000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4F3FA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8" name="pd1">
            <a:extLst xmlns:a="http://schemas.openxmlformats.org/drawingml/2006/main">
              <a:ext uri="{FF2B5EF4-FFF2-40B4-BE49-F238E27FC236}">
                <a16:creationId xmlns:a16="http://schemas.microsoft.com/office/drawing/2014/main" id="{8DD63A64-6CCC-44F9-BAAE-AEFFE400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31–60 วัน</a:t>
            </a:r>
          </a:p>
        </p:txBody>
      </p:sp>
      <p:sp>
        <p:nvSpPr>
          <p:cNvPr id="9" name="pt1">
            <a:extLst xmlns:a="http://schemas.openxmlformats.org/drawingml/2006/main">
              <a:ext uri="{FF2B5EF4-FFF2-40B4-BE49-F238E27FC236}">
                <a16:creationId xmlns:a16="http://schemas.microsoft.com/office/drawing/2014/main" id="{EDF363FA-251F-4E1B-8775-8F41892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Camera pilot</a:t>
            </a:r>
          </a:p>
        </p:txBody>
      </p:sp>
      <p:sp>
        <p:nvSpPr>
          <p:cNvPr id="10" name="pb1">
            <a:extLst xmlns:a="http://schemas.openxmlformats.org/drawingml/2006/main">
              <a:ext uri="{FF2B5EF4-FFF2-40B4-BE49-F238E27FC236}">
                <a16:creationId xmlns:a16="http://schemas.microsoft.com/office/drawing/2014/main" id="{2DD6E70E-A891-447B-8BBE-4E3245F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ติดตั้ง Mini Hub 1–3 โรงแรม วัด bitrate/P2P/TURN</a:t>
            </a:r>
          </a:p>
        </p:txBody>
      </p:sp>
      <p:sp>
        <p:nvSpPr>
          <p:cNvPr id="11" name="ph2">
            <a:extLst xmlns:a="http://schemas.openxmlformats.org/drawingml/2006/main">
              <a:ext uri="{FF2B5EF4-FFF2-40B4-BE49-F238E27FC236}">
                <a16:creationId xmlns:a16="http://schemas.microsoft.com/office/drawing/2014/main" id="{AA6E925B-62FE-4B11-BD65-9EC8F39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8"/>
            </a:solidFill>
            <a:prstDash val="solid"/>
          </a:ln>
        </p:spPr>
      </p:sp>
      <p:sp>
        <p:nvSpPr>
          <p:cNvPr id="12" name="pd2">
            <a:extLst xmlns:a="http://schemas.openxmlformats.org/drawingml/2006/main">
              <a:ext uri="{FF2B5EF4-FFF2-40B4-BE49-F238E27FC236}">
                <a16:creationId xmlns:a16="http://schemas.microsoft.com/office/drawing/2014/main" id="{8E167F88-AB71-4E04-BF08-1C0CCB4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61–90 วัน</a:t>
            </a:r>
          </a:p>
        </p:txBody>
      </p:sp>
      <p:sp>
        <p:nvSpPr>
          <p:cNvPr id="13" name="pt2">
            <a:extLst xmlns:a="http://schemas.openxmlformats.org/drawingml/2006/main">
              <a:ext uri="{FF2B5EF4-FFF2-40B4-BE49-F238E27FC236}">
                <a16:creationId xmlns:a16="http://schemas.microsoft.com/office/drawing/2014/main" id="{BB400318-2FDF-41C0-BD35-46153605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Go-live readiness</a:t>
            </a:r>
          </a:p>
        </p:txBody>
      </p:sp>
      <p:sp>
        <p:nvSpPr>
          <p:cNvPr id="14" name="pb2">
            <a:extLst xmlns:a="http://schemas.openxmlformats.org/drawingml/2006/main">
              <a:ext uri="{FF2B5EF4-FFF2-40B4-BE49-F238E27FC236}">
                <a16:creationId xmlns:a16="http://schemas.microsoft.com/office/drawing/2014/main" id="{ED808AD7-DAF6-4D8A-BFB0-2FB2EB51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QA อุปกรณ์จริง, monitoring, backup, SLA และ Store</a:t>
            </a:r>
          </a:p>
        </p:txBody>
      </p:sp>
      <p:sp>
        <p:nvSpPr>
          <p:cNvPr id="15" name="src">
            <a:extLst xmlns:a="http://schemas.openxmlformats.org/drawingml/2006/main">
              <a:ext uri="{FF2B5EF4-FFF2-40B4-BE49-F238E27FC236}">
                <a16:creationId xmlns:a16="http://schemas.microsoft.com/office/drawing/2014/main" id="{F16F7A65-9D3C-4DD6-ACFA-811E636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4356737B-5928-4892-BFE2-817FF57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17532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FE5AD4C-5263-41EA-A495-DB2967E0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• PROJECT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F59586-B920-4B19-B238-7FF2920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สิ่งที่ต้องการการตัดสินใจจากเจ้าของโครงการ</a:t>
            </a:r>
          </a:p>
        </p:txBody>
      </p:sp>
      <p:sp>
        <p:nvSpPr>
          <p:cNvPr id="3" name="dot0">
            <a:extLst xmlns:a="http://schemas.openxmlformats.org/drawingml/2006/main">
              <a:ext uri="{FF2B5EF4-FFF2-40B4-BE49-F238E27FC236}">
                <a16:creationId xmlns:a16="http://schemas.microsoft.com/office/drawing/2014/main" id="{EEE0DC2E-057F-48C9-9B2C-8A524F0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4" name="bul0">
            <a:extLst xmlns:a="http://schemas.openxmlformats.org/drawingml/2006/main">
              <a:ext uri="{FF2B5EF4-FFF2-40B4-BE49-F238E27FC236}">
                <a16:creationId xmlns:a16="http://schemas.microsoft.com/office/drawing/2014/main" id="{E3BEF3CB-F497-4D62-A417-CB9BFBE4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ยืนยัน Omise แบบ absorb fee และให้ PromptPay เป็นตัวเลือกหลัก</a:t>
            </a:r>
          </a:p>
        </p:txBody>
      </p:sp>
      <p:sp>
        <p:nvSpPr>
          <p:cNvPr id="5" name="dot1">
            <a:extLst xmlns:a="http://schemas.openxmlformats.org/drawingml/2006/main">
              <a:ext uri="{FF2B5EF4-FFF2-40B4-BE49-F238E27FC236}">
                <a16:creationId xmlns:a16="http://schemas.microsoft.com/office/drawing/2014/main" id="{6B5E4540-0974-425C-8650-C2CA818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6" name="bul1">
            <a:extLst xmlns:a="http://schemas.openxmlformats.org/drawingml/2006/main">
              <a:ext uri="{FF2B5EF4-FFF2-40B4-BE49-F238E27FC236}">
                <a16:creationId xmlns:a16="http://schemas.microsoft.com/office/drawing/2014/main" id="{0F136104-DB86-47D2-8409-912B9271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อนุมัติงบ Payment hardening ก่อนรับเงินจริง</a:t>
            </a:r>
          </a:p>
        </p:txBody>
      </p:sp>
      <p:sp>
        <p:nvSpPr>
          <p:cNvPr id="7" name="dot2">
            <a:extLst xmlns:a="http://schemas.openxmlformats.org/drawingml/2006/main">
              <a:ext uri="{FF2B5EF4-FFF2-40B4-BE49-F238E27FC236}">
                <a16:creationId xmlns:a16="http://schemas.microsoft.com/office/drawing/2014/main" id="{25A88451-DE77-48E7-AADF-3E91951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8" name="bul2">
            <a:extLst xmlns:a="http://schemas.openxmlformats.org/drawingml/2006/main">
              <a:ext uri="{FF2B5EF4-FFF2-40B4-BE49-F238E27FC236}">
                <a16:creationId xmlns:a16="http://schemas.microsoft.com/office/drawing/2014/main" id="{DAD50714-C315-43BC-84EC-7D7C717D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อนุมัติ Mini Hub pilot 1–3 โรงแรม แทนการซื้อกล้องใหม่ทั้งหมด</a:t>
            </a:r>
          </a:p>
        </p:txBody>
      </p:sp>
      <p:sp>
        <p:nvSpPr>
          <p:cNvPr id="9" name="dot3">
            <a:extLst xmlns:a="http://schemas.openxmlformats.org/drawingml/2006/main">
              <a:ext uri="{FF2B5EF4-FFF2-40B4-BE49-F238E27FC236}">
                <a16:creationId xmlns:a16="http://schemas.microsoft.com/office/drawing/2014/main" id="{8A431AD1-E43A-40EA-B612-40675634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0" name="bul3">
            <a:extLst xmlns:a="http://schemas.openxmlformats.org/drawingml/2006/main">
              <a:ext uri="{FF2B5EF4-FFF2-40B4-BE49-F238E27FC236}">
                <a16:creationId xmlns:a16="http://schemas.microsoft.com/office/drawing/2014/main" id="{00563CEB-509A-4831-9381-0A38DAC7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กำหนด Package โรงแรม 199–299 บาท และค่าช่าง 100–150 บาท/เดือน</a:t>
            </a:r>
          </a:p>
        </p:txBody>
      </p:sp>
      <p:sp>
        <p:nvSpPr>
          <p:cNvPr id="11" name="dot4">
            <a:extLst xmlns:a="http://schemas.openxmlformats.org/drawingml/2006/main">
              <a:ext uri="{FF2B5EF4-FFF2-40B4-BE49-F238E27FC236}">
                <a16:creationId xmlns:a16="http://schemas.microsoft.com/office/drawing/2014/main" id="{A11F2569-1C23-45EB-A55E-E9E52A46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2" name="bul4">
            <a:extLst xmlns:a="http://schemas.openxmlformats.org/drawingml/2006/main">
              <a:ext uri="{FF2B5EF4-FFF2-40B4-BE49-F238E27FC236}">
                <a16:creationId xmlns:a16="http://schemas.microsoft.com/office/drawing/2014/main" id="{B9C17675-0212-41A7-AF4E-73772E3A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เลือก Maintenance package และผู้รับผิดชอบ incident หลังส่งมอบ</a:t>
            </a:r>
          </a:p>
        </p:txBody>
      </p:sp>
      <p:sp>
        <p:nvSpPr>
          <p:cNvPr id="13" name="dot5">
            <a:extLst xmlns:a="http://schemas.openxmlformats.org/drawingml/2006/main">
              <a:ext uri="{FF2B5EF4-FFF2-40B4-BE49-F238E27FC236}">
                <a16:creationId xmlns:a16="http://schemas.microsoft.com/office/drawing/2014/main" id="{AA5C8530-998A-4146-AB5F-ACC13B6C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●</a:t>
            </a:r>
          </a:p>
        </p:txBody>
      </p:sp>
      <p:sp>
        <p:nvSpPr>
          <p:cNvPr id="14" name="bul5">
            <a:extLst xmlns:a="http://schemas.openxmlformats.org/drawingml/2006/main">
              <a:ext uri="{FF2B5EF4-FFF2-40B4-BE49-F238E27FC236}">
                <a16:creationId xmlns:a16="http://schemas.microsoft.com/office/drawing/2014/main" id="{9CD41977-CB6C-4197-8198-9BDD732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2F1B14"/>
                </a:solidFill>
                <a:latin typeface="Noto Sans Thai"/>
                <a:ea typeface="Noto Sans Thai"/>
                <a:cs typeface="Noto Sans Thai"/>
              </a:rPr>
              <a:t>อนุมัติบัญชี Apple Developer / Google Play ในนามเจ้าของธุรกิจ</a:t>
            </a:r>
          </a:p>
        </p:txBody>
      </p:sp>
      <p:sp>
        <p:nvSpPr>
          <p:cNvPr id="15" name="src">
            <a:extLst xmlns:a="http://schemas.openxmlformats.org/drawingml/2006/main">
              <a:ext uri="{FF2B5EF4-FFF2-40B4-BE49-F238E27FC236}">
                <a16:creationId xmlns:a16="http://schemas.microsoft.com/office/drawing/2014/main" id="{ED725E36-D766-4E36-976D-821C2A7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CDA773DF-0880-4370-A1C5-3D4B9028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09716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7B3F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25b3750a641f3"/>
          <a:stretch xmlns:a="http://schemas.openxmlformats.org/drawingml/2006/main"/>
        </p:blipFill>
        <p:spPr>
          <a:xfrm xmlns:a="http://schemas.openxmlformats.org/drawingml/2006/main">
            <a:off x="762000" y="11430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sp>
        <p:nvSpPr>
          <p:cNvPr id="2" name="end">
            <a:extLst xmlns:a="http://schemas.openxmlformats.org/drawingml/2006/main">
              <a:ext uri="{FF2B5EF4-FFF2-40B4-BE49-F238E27FC236}">
                <a16:creationId xmlns:a16="http://schemas.microsoft.com/office/drawing/2014/main" id="{677265EC-ADF7-4C81-B1DF-FF8C504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430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เป้าหมายถัดไป</a:t>
            </a:r>
          </a:p>
        </p:txBody>
      </p:sp>
      <p:sp>
        <p:nvSpPr>
          <p:cNvPr id="3" name="main">
            <a:extLst xmlns:a="http://schemas.openxmlformats.org/drawingml/2006/main">
              <a:ext uri="{FF2B5EF4-FFF2-40B4-BE49-F238E27FC236}">
                <a16:creationId xmlns:a16="http://schemas.microsoft.com/office/drawing/2014/main" id="{8B680667-9F6F-4F5F-924E-EAE60E3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เปลี่ยนจาก “ฟีเจอร์ทำงาน”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เป็น “บริการที่เปิดใช้จริงและดูแลได้”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D65DAB4B-237F-41CF-AD1F-EA7FF661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1E8D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F1E8DD"/>
                </a:solidFill>
                <a:latin typeface="Noto Sans Thai"/>
                <a:ea typeface="Noto Sans Thai"/>
                <a:cs typeface="Noto Sans Thai"/>
              </a:rPr>
              <a:t>Payment hardening • Mini Hub pilot • Production operations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2454E345-51B8-43A1-B0BA-D0744FF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C78A5B"/>
                </a:solidFill>
                <a:latin typeface="Noto Sans Thai"/>
                <a:ea typeface="Noto Sans Thai"/>
                <a:cs typeface="Noto Sans Thai"/>
              </a:rPr>
              <a:t>PetPal Project Update • 22 Jul 2026</a:t>
            </a:r>
          </a:p>
        </p:txBody>
      </p:sp>
      <p:sp>
        <p:nvSpPr>
          <p:cNvPr id="6" name="src">
            <a:extLst xmlns:a="http://schemas.openxmlformats.org/drawingml/2006/main">
              <a:ext uri="{FF2B5EF4-FFF2-40B4-BE49-F238E27FC236}">
                <a16:creationId xmlns:a16="http://schemas.microsoft.com/office/drawing/2014/main" id="{132593BB-3F7C-4919-85B0-2AEC2D50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26EA2C8-2FF0-45FF-A855-7411FCE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defRPr>
            </a:pPr>
            <a:r>
              <a:rPr sz="825" b="0">
                <a:solidFill>
                  <a:srgbClr val="71675F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4825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2026-07-22T09:54:10.8550000Z</dcterms:created>
  <dcterms:modified xsi:type="dcterms:W3CDTF">2026-07-22T09:54:10.8550000Z</dcterms:modified>
</coreProperties>
</file>